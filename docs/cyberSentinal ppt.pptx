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8288000" cy="10287000"/>
  <p:notesSz cx="6858000" cy="9144000"/>
  <p:embeddedFontLst>
    <p:embeddedFont>
      <p:font typeface="Arial Bold" panose="020B0704020202020204" pitchFamily="34" charset="0"/>
      <p:regular r:id="rId14"/>
      <p:bold r:id="rId15"/>
    </p:embeddedFont>
    <p:embeddedFont>
      <p:font typeface="Times New Roman Italic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35CC7B-7DE2-45FE-A8DE-840607200FA4}" v="13" dt="2026-04-02T09:12:13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2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nna laxmi alampally" userId="032e7000f740b4cf" providerId="LiveId" clId="{F9FAC0DF-4B31-4FD3-A6B7-2B2E48F0498E}"/>
    <pc:docChg chg="undo redo custSel delSld modSld">
      <pc:chgData name="prasanna laxmi alampally" userId="032e7000f740b4cf" providerId="LiveId" clId="{F9FAC0DF-4B31-4FD3-A6B7-2B2E48F0498E}" dt="2026-04-02T09:16:16.238" v="388" actId="5793"/>
      <pc:docMkLst>
        <pc:docMk/>
      </pc:docMkLst>
      <pc:sldChg chg="modSp mod">
        <pc:chgData name="prasanna laxmi alampally" userId="032e7000f740b4cf" providerId="LiveId" clId="{F9FAC0DF-4B31-4FD3-A6B7-2B2E48F0498E}" dt="2026-04-02T09:08:28.960" v="123" actId="20577"/>
        <pc:sldMkLst>
          <pc:docMk/>
          <pc:sldMk cId="0" sldId="256"/>
        </pc:sldMkLst>
        <pc:spChg chg="mod">
          <ac:chgData name="prasanna laxmi alampally" userId="032e7000f740b4cf" providerId="LiveId" clId="{F9FAC0DF-4B31-4FD3-A6B7-2B2E48F0498E}" dt="2026-04-02T09:04:59.329" v="75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prasanna laxmi alampally" userId="032e7000f740b4cf" providerId="LiveId" clId="{F9FAC0DF-4B31-4FD3-A6B7-2B2E48F0498E}" dt="2026-04-02T09:08:28.960" v="123" actId="20577"/>
          <ac:spMkLst>
            <pc:docMk/>
            <pc:sldMk cId="0" sldId="256"/>
            <ac:spMk id="18" creationId="{00000000-0000-0000-0000-000000000000}"/>
          </ac:spMkLst>
        </pc:spChg>
        <pc:grpChg chg="mod">
          <ac:chgData name="prasanna laxmi alampally" userId="032e7000f740b4cf" providerId="LiveId" clId="{F9FAC0DF-4B31-4FD3-A6B7-2B2E48F0498E}" dt="2026-04-02T08:53:33.337" v="43" actId="1038"/>
          <ac:grpSpMkLst>
            <pc:docMk/>
            <pc:sldMk cId="0" sldId="256"/>
            <ac:grpSpMk id="7" creationId="{00000000-0000-0000-0000-000000000000}"/>
          </ac:grpSpMkLst>
        </pc:grpChg>
      </pc:sldChg>
      <pc:sldChg chg="modSp mod">
        <pc:chgData name="prasanna laxmi alampally" userId="032e7000f740b4cf" providerId="LiveId" clId="{F9FAC0DF-4B31-4FD3-A6B7-2B2E48F0498E}" dt="2026-04-02T09:16:16.238" v="388" actId="5793"/>
        <pc:sldMkLst>
          <pc:docMk/>
          <pc:sldMk cId="0" sldId="258"/>
        </pc:sldMkLst>
        <pc:spChg chg="mod">
          <ac:chgData name="prasanna laxmi alampally" userId="032e7000f740b4cf" providerId="LiveId" clId="{F9FAC0DF-4B31-4FD3-A6B7-2B2E48F0498E}" dt="2026-04-02T09:16:16.238" v="388" actId="5793"/>
          <ac:spMkLst>
            <pc:docMk/>
            <pc:sldMk cId="0" sldId="258"/>
            <ac:spMk id="14" creationId="{00000000-0000-0000-0000-000000000000}"/>
          </ac:spMkLst>
        </pc:spChg>
      </pc:sldChg>
      <pc:sldChg chg="modSp mod">
        <pc:chgData name="prasanna laxmi alampally" userId="032e7000f740b4cf" providerId="LiveId" clId="{F9FAC0DF-4B31-4FD3-A6B7-2B2E48F0498E}" dt="2026-04-02T08:54:11.299" v="45" actId="1076"/>
        <pc:sldMkLst>
          <pc:docMk/>
          <pc:sldMk cId="0" sldId="261"/>
        </pc:sldMkLst>
        <pc:spChg chg="mod">
          <ac:chgData name="prasanna laxmi alampally" userId="032e7000f740b4cf" providerId="LiveId" clId="{F9FAC0DF-4B31-4FD3-A6B7-2B2E48F0498E}" dt="2026-04-02T08:54:00.523" v="44" actId="103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prasanna laxmi alampally" userId="032e7000f740b4cf" providerId="LiveId" clId="{F9FAC0DF-4B31-4FD3-A6B7-2B2E48F0498E}" dt="2026-04-02T08:54:11.299" v="45" actId="1076"/>
          <ac:spMkLst>
            <pc:docMk/>
            <pc:sldMk cId="0" sldId="261"/>
            <ac:spMk id="14" creationId="{00000000-0000-0000-0000-000000000000}"/>
          </ac:spMkLst>
        </pc:spChg>
      </pc:sldChg>
      <pc:sldChg chg="addSp delSp modSp mod">
        <pc:chgData name="prasanna laxmi alampally" userId="032e7000f740b4cf" providerId="LiveId" clId="{F9FAC0DF-4B31-4FD3-A6B7-2B2E48F0498E}" dt="2026-04-02T09:11:13.145" v="140" actId="1076"/>
        <pc:sldMkLst>
          <pc:docMk/>
          <pc:sldMk cId="0" sldId="263"/>
        </pc:sldMkLst>
        <pc:spChg chg="add del mod">
          <ac:chgData name="prasanna laxmi alampally" userId="032e7000f740b4cf" providerId="LiveId" clId="{F9FAC0DF-4B31-4FD3-A6B7-2B2E48F0498E}" dt="2026-04-02T09:09:23.844" v="125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prasanna laxmi alampally" userId="032e7000f740b4cf" providerId="LiveId" clId="{F9FAC0DF-4B31-4FD3-A6B7-2B2E48F0498E}" dt="2026-04-02T09:10:29.995" v="136" actId="14100"/>
          <ac:spMkLst>
            <pc:docMk/>
            <pc:sldMk cId="0" sldId="263"/>
            <ac:spMk id="13" creationId="{00000000-0000-0000-0000-000000000000}"/>
          </ac:spMkLst>
        </pc:spChg>
        <pc:spChg chg="add mod">
          <ac:chgData name="prasanna laxmi alampally" userId="032e7000f740b4cf" providerId="LiveId" clId="{F9FAC0DF-4B31-4FD3-A6B7-2B2E48F0498E}" dt="2026-04-02T09:10:08.857" v="132" actId="1076"/>
          <ac:spMkLst>
            <pc:docMk/>
            <pc:sldMk cId="0" sldId="263"/>
            <ac:spMk id="16" creationId="{05DBEB2A-B0BE-27B1-7F67-C91214DE92B1}"/>
          </ac:spMkLst>
        </pc:spChg>
        <pc:spChg chg="add mod">
          <ac:chgData name="prasanna laxmi alampally" userId="032e7000f740b4cf" providerId="LiveId" clId="{F9FAC0DF-4B31-4FD3-A6B7-2B2E48F0498E}" dt="2026-04-02T09:11:13.145" v="140" actId="1076"/>
          <ac:spMkLst>
            <pc:docMk/>
            <pc:sldMk cId="0" sldId="263"/>
            <ac:spMk id="17" creationId="{7BC10057-D85D-FDBA-2AC1-8F04FAABB6E2}"/>
          </ac:spMkLst>
        </pc:spChg>
      </pc:sldChg>
      <pc:sldChg chg="delSp modSp del mod">
        <pc:chgData name="prasanna laxmi alampally" userId="032e7000f740b4cf" providerId="LiveId" clId="{F9FAC0DF-4B31-4FD3-A6B7-2B2E48F0498E}" dt="2026-04-02T09:11:26.260" v="142" actId="2696"/>
        <pc:sldMkLst>
          <pc:docMk/>
          <pc:sldMk cId="0" sldId="264"/>
        </pc:sldMkLst>
        <pc:spChg chg="del mod">
          <ac:chgData name="prasanna laxmi alampally" userId="032e7000f740b4cf" providerId="LiveId" clId="{F9FAC0DF-4B31-4FD3-A6B7-2B2E48F0498E}" dt="2026-04-02T09:11:19.814" v="141" actId="478"/>
          <ac:spMkLst>
            <pc:docMk/>
            <pc:sldMk cId="0" sldId="264"/>
            <ac:spMk id="12" creationId="{00000000-0000-0000-0000-000000000000}"/>
          </ac:spMkLst>
        </pc:spChg>
        <pc:spChg chg="del mod">
          <ac:chgData name="prasanna laxmi alampally" userId="032e7000f740b4cf" providerId="LiveId" clId="{F9FAC0DF-4B31-4FD3-A6B7-2B2E48F0498E}" dt="2026-04-02T09:11:19.814" v="141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prasanna laxmi alampally" userId="032e7000f740b4cf" providerId="LiveId" clId="{F9FAC0DF-4B31-4FD3-A6B7-2B2E48F0498E}" dt="2026-04-02T09:11:19.814" v="141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prasanna laxmi alampally" userId="032e7000f740b4cf" providerId="LiveId" clId="{F9FAC0DF-4B31-4FD3-A6B7-2B2E48F0498E}" dt="2026-04-02T09:11:19.814" v="141" actId="478"/>
          <ac:spMkLst>
            <pc:docMk/>
            <pc:sldMk cId="0" sldId="264"/>
            <ac:spMk id="15" creationId="{00000000-0000-0000-0000-000000000000}"/>
          </ac:spMkLst>
        </pc:spChg>
        <pc:grpChg chg="del">
          <ac:chgData name="prasanna laxmi alampally" userId="032e7000f740b4cf" providerId="LiveId" clId="{F9FAC0DF-4B31-4FD3-A6B7-2B2E48F0498E}" dt="2026-04-02T09:11:19.814" v="141" actId="478"/>
          <ac:grpSpMkLst>
            <pc:docMk/>
            <pc:sldMk cId="0" sldId="264"/>
            <ac:grpSpMk id="2" creationId="{00000000-0000-0000-0000-000000000000}"/>
          </ac:grpSpMkLst>
        </pc:grpChg>
        <pc:grpChg chg="del">
          <ac:chgData name="prasanna laxmi alampally" userId="032e7000f740b4cf" providerId="LiveId" clId="{F9FAC0DF-4B31-4FD3-A6B7-2B2E48F0498E}" dt="2026-04-02T09:11:19.814" v="141" actId="478"/>
          <ac:grpSpMkLst>
            <pc:docMk/>
            <pc:sldMk cId="0" sldId="264"/>
            <ac:grpSpMk id="4" creationId="{00000000-0000-0000-0000-000000000000}"/>
          </ac:grpSpMkLst>
        </pc:grpChg>
        <pc:grpChg chg="del">
          <ac:chgData name="prasanna laxmi alampally" userId="032e7000f740b4cf" providerId="LiveId" clId="{F9FAC0DF-4B31-4FD3-A6B7-2B2E48F0498E}" dt="2026-04-02T09:11:19.814" v="141" actId="478"/>
          <ac:grpSpMkLst>
            <pc:docMk/>
            <pc:sldMk cId="0" sldId="264"/>
            <ac:grpSpMk id="6" creationId="{00000000-0000-0000-0000-000000000000}"/>
          </ac:grpSpMkLst>
        </pc:grpChg>
        <pc:grpChg chg="del">
          <ac:chgData name="prasanna laxmi alampally" userId="032e7000f740b4cf" providerId="LiveId" clId="{F9FAC0DF-4B31-4FD3-A6B7-2B2E48F0498E}" dt="2026-04-02T09:11:19.814" v="141" actId="478"/>
          <ac:grpSpMkLst>
            <pc:docMk/>
            <pc:sldMk cId="0" sldId="264"/>
            <ac:grpSpMk id="8" creationId="{00000000-0000-0000-0000-000000000000}"/>
          </ac:grpSpMkLst>
        </pc:grpChg>
        <pc:grpChg chg="del">
          <ac:chgData name="prasanna laxmi alampally" userId="032e7000f740b4cf" providerId="LiveId" clId="{F9FAC0DF-4B31-4FD3-A6B7-2B2E48F0498E}" dt="2026-04-02T09:11:19.814" v="141" actId="478"/>
          <ac:grpSpMkLst>
            <pc:docMk/>
            <pc:sldMk cId="0" sldId="264"/>
            <ac:grpSpMk id="10" creationId="{00000000-0000-0000-0000-000000000000}"/>
          </ac:grpSpMkLst>
        </pc:grpChg>
      </pc:sldChg>
      <pc:sldChg chg="modSp mod">
        <pc:chgData name="prasanna laxmi alampally" userId="032e7000f740b4cf" providerId="LiveId" clId="{F9FAC0DF-4B31-4FD3-A6B7-2B2E48F0498E}" dt="2026-04-02T09:12:46.769" v="149" actId="123"/>
        <pc:sldMkLst>
          <pc:docMk/>
          <pc:sldMk cId="0" sldId="265"/>
        </pc:sldMkLst>
        <pc:spChg chg="mod">
          <ac:chgData name="prasanna laxmi alampally" userId="032e7000f740b4cf" providerId="LiveId" clId="{F9FAC0DF-4B31-4FD3-A6B7-2B2E48F0498E}" dt="2026-04-02T09:12:46.769" v="149" actId="123"/>
          <ac:spMkLst>
            <pc:docMk/>
            <pc:sldMk cId="0" sldId="265"/>
            <ac:spMk id="17" creationId="{00000000-0000-0000-0000-000000000000}"/>
          </ac:spMkLst>
        </pc:spChg>
        <pc:spChg chg="mod">
          <ac:chgData name="prasanna laxmi alampally" userId="032e7000f740b4cf" providerId="LiveId" clId="{F9FAC0DF-4B31-4FD3-A6B7-2B2E48F0498E}" dt="2026-04-02T08:55:33.964" v="50" actId="1076"/>
          <ac:spMkLst>
            <pc:docMk/>
            <pc:sldMk cId="0" sldId="265"/>
            <ac:spMk id="18" creationId="{00000000-0000-0000-0000-000000000000}"/>
          </ac:spMkLst>
        </pc:spChg>
        <pc:grpChg chg="mod">
          <ac:chgData name="prasanna laxmi alampally" userId="032e7000f740b4cf" providerId="LiveId" clId="{F9FAC0DF-4B31-4FD3-A6B7-2B2E48F0498E}" dt="2026-04-02T08:55:10.352" v="46" actId="1076"/>
          <ac:grpSpMkLst>
            <pc:docMk/>
            <pc:sldMk cId="0" sldId="265"/>
            <ac:grpSpMk id="14" creationId="{00000000-0000-0000-0000-000000000000}"/>
          </ac:grpSpMkLst>
        </pc:grpChg>
      </pc:sldChg>
      <pc:sldChg chg="modSp mod">
        <pc:chgData name="prasanna laxmi alampally" userId="032e7000f740b4cf" providerId="LiveId" clId="{F9FAC0DF-4B31-4FD3-A6B7-2B2E48F0498E}" dt="2026-04-02T09:15:09.952" v="387" actId="20577"/>
        <pc:sldMkLst>
          <pc:docMk/>
          <pc:sldMk cId="0" sldId="266"/>
        </pc:sldMkLst>
        <pc:spChg chg="mod">
          <ac:chgData name="prasanna laxmi alampally" userId="032e7000f740b4cf" providerId="LiveId" clId="{F9FAC0DF-4B31-4FD3-A6B7-2B2E48F0498E}" dt="2026-04-02T09:15:09.952" v="387" actId="20577"/>
          <ac:spMkLst>
            <pc:docMk/>
            <pc:sldMk cId="0" sldId="266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Slide Duration: 5 min</a:t>
            </a:r>
          </a:p>
          <a:p>
            <a:r>
              <a:rPr lang="en-US" dirty="0"/>
              <a:t>Objective: To get an insight about Design Thinking</a:t>
            </a:r>
          </a:p>
          <a:p>
            <a:r>
              <a:rPr lang="en-US" dirty="0"/>
              <a:t>Procedure:</a:t>
            </a:r>
          </a:p>
          <a:p>
            <a:r>
              <a:rPr lang="en-US" dirty="0"/>
              <a:t>Explanation:</a:t>
            </a:r>
          </a:p>
          <a:p>
            <a:r>
              <a:rPr lang="en-US" dirty="0"/>
              <a:t>Introduce the topic "Design Thinking" </a:t>
            </a:r>
          </a:p>
          <a:p>
            <a:r>
              <a:rPr lang="en-US" dirty="0"/>
              <a:t>Design thinking is a creative approach to problem-solving that puts people at the center. </a:t>
            </a:r>
          </a:p>
          <a:p>
            <a:r>
              <a:rPr lang="en-US" dirty="0"/>
              <a:t>It starts with understanding the needs of those who will use what you're designing. </a:t>
            </a:r>
          </a:p>
          <a:p>
            <a:r>
              <a:rPr lang="en-US" dirty="0"/>
              <a:t>Then, it involves brainstorming ideas, prototyping solutions, and testing them to see what works best. </a:t>
            </a:r>
          </a:p>
          <a:p>
            <a:r>
              <a:rPr lang="en-US" dirty="0"/>
              <a:t>It's about being open-minded, collaborative, and willing to try new things to come up with innovative solutions that really fit people's needs.</a:t>
            </a:r>
          </a:p>
          <a:p>
            <a:endParaRPr lang="en-US" dirty="0"/>
          </a:p>
          <a:p>
            <a:r>
              <a:rPr lang="en-US" dirty="0"/>
              <a:t>Learning outcome: Students will be introduced to the topic Design Thinking.</a:t>
            </a:r>
          </a:p>
          <a:p>
            <a:endParaRPr lang="en-US" dirty="0"/>
          </a:p>
          <a:p>
            <a:r>
              <a:rPr lang="en-US" dirty="0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duration: 5 min</a:t>
            </a:r>
          </a:p>
          <a:p>
            <a:endParaRPr lang="en-US"/>
          </a:p>
          <a:p>
            <a:r>
              <a:rPr lang="en-US"/>
              <a:t>Objective: To know the content of the lesson.</a:t>
            </a:r>
          </a:p>
          <a:p>
            <a:endParaRPr lang="en-US"/>
          </a:p>
          <a:p>
            <a:r>
              <a:rPr lang="en-US"/>
              <a:t>Procedure: </a:t>
            </a:r>
          </a:p>
          <a:p>
            <a:r>
              <a:rPr lang="en-US"/>
              <a:t>Tell students what they are going to learn today.</a:t>
            </a:r>
          </a:p>
          <a:p>
            <a:r>
              <a:rPr lang="en-US"/>
              <a:t>Discuss each topics given in the slide.</a:t>
            </a:r>
          </a:p>
          <a:p>
            <a:endParaRPr lang="en-US"/>
          </a:p>
          <a:p>
            <a:r>
              <a:rPr lang="en-US"/>
              <a:t>Learning Outcome: Students will get to know the content of today's lesson.</a:t>
            </a:r>
          </a:p>
          <a:p>
            <a:endParaRPr lang="en-US"/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Total duration: 5mins</a:t>
            </a:r>
          </a:p>
          <a:p>
            <a:r>
              <a:rPr lang="en-US"/>
              <a:t>Learning Objective:  In this slide, the trainer will explain the students what they will learn and be able to apply in the real life situations.</a:t>
            </a:r>
          </a:p>
          <a:p>
            <a:endParaRPr lang="en-US"/>
          </a:p>
          <a:p>
            <a:r>
              <a:rPr lang="en-US"/>
              <a:t>Procedure: Discuss the above as the outcome of the session</a:t>
            </a:r>
          </a:p>
          <a:p>
            <a:endParaRPr lang="en-US"/>
          </a:p>
          <a:p>
            <a:r>
              <a:rPr lang="en-US"/>
              <a:t>Learning outcome: Students will understand the learning outcome in this slide.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Total duration: 5mins</a:t>
            </a:r>
          </a:p>
          <a:p>
            <a:r>
              <a:rPr lang="en-US"/>
              <a:t>Learning Objective:  In this slide, the trainer will explain the students what they will learn and be able to apply in the real life situations.</a:t>
            </a:r>
          </a:p>
          <a:p>
            <a:endParaRPr lang="en-US"/>
          </a:p>
          <a:p>
            <a:r>
              <a:rPr lang="en-US"/>
              <a:t>Procedure: Discuss the above as the outcome of the session</a:t>
            </a:r>
          </a:p>
          <a:p>
            <a:endParaRPr lang="en-US"/>
          </a:p>
          <a:p>
            <a:r>
              <a:rPr lang="en-US"/>
              <a:t>Learning outcome: Students will understand the learning outcome in this slide.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Total duration: 5mins</a:t>
            </a:r>
          </a:p>
          <a:p>
            <a:r>
              <a:rPr lang="en-US"/>
              <a:t>Learning Objective:  In this slide, the trainer will explain the students what they will learn and be able to apply in the real life situations.</a:t>
            </a:r>
          </a:p>
          <a:p>
            <a:endParaRPr lang="en-US"/>
          </a:p>
          <a:p>
            <a:r>
              <a:rPr lang="en-US"/>
              <a:t>Procedure: Discuss the above as the outcome of the session</a:t>
            </a:r>
          </a:p>
          <a:p>
            <a:endParaRPr lang="en-US"/>
          </a:p>
          <a:p>
            <a:r>
              <a:rPr lang="en-US"/>
              <a:t>Learning outcome: Students will understand the learning outcome in this slide.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Total duration: 5mins</a:t>
            </a:r>
          </a:p>
          <a:p>
            <a:r>
              <a:rPr lang="en-US"/>
              <a:t>Learning Objective:  In this slide, the trainer will explain the students what they will learn and be able to apply in the real life situations.</a:t>
            </a:r>
          </a:p>
          <a:p>
            <a:endParaRPr lang="en-US"/>
          </a:p>
          <a:p>
            <a:r>
              <a:rPr lang="en-US"/>
              <a:t>Procedure: Discuss the above as the outcome of the session</a:t>
            </a:r>
          </a:p>
          <a:p>
            <a:endParaRPr lang="en-US"/>
          </a:p>
          <a:p>
            <a:r>
              <a:rPr lang="en-US"/>
              <a:t>Learning outcome: Students will understand the learning outcome in this slide.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Total duration: 5mins</a:t>
            </a:r>
          </a:p>
          <a:p>
            <a:r>
              <a:rPr lang="en-US"/>
              <a:t>Learning Objective:  In this slide, the trainer will explain the students what they will learn and be able to apply in the real life situations.</a:t>
            </a:r>
          </a:p>
          <a:p>
            <a:endParaRPr lang="en-US"/>
          </a:p>
          <a:p>
            <a:r>
              <a:rPr lang="en-US"/>
              <a:t>Procedure: Discuss the above as the outcome of the session</a:t>
            </a:r>
          </a:p>
          <a:p>
            <a:endParaRPr lang="en-US"/>
          </a:p>
          <a:p>
            <a:r>
              <a:rPr lang="en-US"/>
              <a:t>Learning outcome: Students will understand the learning outcome in this slide.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Total duration: 5mins</a:t>
            </a:r>
          </a:p>
          <a:p>
            <a:r>
              <a:rPr lang="en-US"/>
              <a:t>Learning Objective:  In this slide, the trainer will explain the students what they will learn and be able to apply in the real life situations.</a:t>
            </a:r>
          </a:p>
          <a:p>
            <a:endParaRPr lang="en-US"/>
          </a:p>
          <a:p>
            <a:r>
              <a:rPr lang="en-US"/>
              <a:t>Procedure: Discuss the above as the outcome of the session</a:t>
            </a:r>
          </a:p>
          <a:p>
            <a:endParaRPr lang="en-US"/>
          </a:p>
          <a:p>
            <a:r>
              <a:rPr lang="en-US"/>
              <a:t>Learning outcome: Students will understand the learning outcome in this slide.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duration: 5 min</a:t>
            </a:r>
          </a:p>
          <a:p>
            <a:endParaRPr lang="en-US"/>
          </a:p>
          <a:p>
            <a:r>
              <a:rPr lang="en-US"/>
              <a:t>Objective: To get clarity about the lesson is well received among students.</a:t>
            </a:r>
          </a:p>
          <a:p>
            <a:endParaRPr lang="en-US"/>
          </a:p>
          <a:p>
            <a:r>
              <a:rPr lang="en-US"/>
              <a:t>Procedure: </a:t>
            </a:r>
          </a:p>
          <a:p>
            <a:r>
              <a:rPr lang="en-US"/>
              <a:t>Ask: What did you learn from the lesson?</a:t>
            </a:r>
          </a:p>
          <a:p>
            <a:r>
              <a:rPr lang="en-US"/>
              <a:t>What is your takeaways from the lesson?</a:t>
            </a:r>
          </a:p>
          <a:p>
            <a:r>
              <a:rPr lang="en-US"/>
              <a:t>How this lesson is going to help you in your personal and professional life.</a:t>
            </a:r>
          </a:p>
          <a:p>
            <a:r>
              <a:rPr lang="en-US"/>
              <a:t>How are you going to implement this lesson?</a:t>
            </a:r>
          </a:p>
          <a:p>
            <a:endParaRPr lang="en-US"/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Total duration: 5mins</a:t>
            </a:r>
          </a:p>
          <a:p>
            <a:r>
              <a:rPr lang="en-US"/>
              <a:t>Learning Objective:  In this slide, the trainer will explain the students what they will learn and be able to apply in the real life situations.</a:t>
            </a:r>
          </a:p>
          <a:p>
            <a:endParaRPr lang="en-US"/>
          </a:p>
          <a:p>
            <a:r>
              <a:rPr lang="en-US"/>
              <a:t>Procedure: Discuss the above as the outcome of the session</a:t>
            </a:r>
          </a:p>
          <a:p>
            <a:endParaRPr lang="en-US"/>
          </a:p>
          <a:p>
            <a:r>
              <a:rPr lang="en-US"/>
              <a:t>Learning outcome: Students will understand the learning outcome in this slide.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Time: 25 to 30 Sec</a:t>
            </a:r>
          </a:p>
          <a:p>
            <a:endParaRPr lang="en-US"/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7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reepik.com/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Three circles each containing concentric circles."/>
          <p:cNvSpPr/>
          <p:nvPr/>
        </p:nvSpPr>
        <p:spPr>
          <a:xfrm>
            <a:off x="7558373" y="-1131865"/>
            <a:ext cx="10478757" cy="10478757"/>
          </a:xfrm>
          <a:custGeom>
            <a:avLst/>
            <a:gdLst/>
            <a:ahLst/>
            <a:cxnLst/>
            <a:rect l="l" t="t" r="r" b="b"/>
            <a:pathLst>
              <a:path w="10478757" h="10478757">
                <a:moveTo>
                  <a:pt x="0" y="0"/>
                </a:moveTo>
                <a:lnTo>
                  <a:pt x="10478758" y="0"/>
                </a:lnTo>
                <a:lnTo>
                  <a:pt x="10478758" y="10478757"/>
                </a:lnTo>
                <a:lnTo>
                  <a:pt x="0" y="104787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1"/>
            <a:ext cx="3280658" cy="10287000"/>
            <a:chOff x="0" y="0"/>
            <a:chExt cx="437421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74261" cy="13716000"/>
            </a:xfrm>
            <a:custGeom>
              <a:avLst/>
              <a:gdLst/>
              <a:ahLst/>
              <a:cxnLst/>
              <a:rect l="l" t="t" r="r" b="b"/>
              <a:pathLst>
                <a:path w="4374261" h="13716000">
                  <a:moveTo>
                    <a:pt x="0" y="0"/>
                  </a:moveTo>
                  <a:lnTo>
                    <a:pt x="4374261" y="0"/>
                  </a:lnTo>
                  <a:lnTo>
                    <a:pt x="4374261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41406" y="2496884"/>
            <a:ext cx="542096" cy="5589260"/>
            <a:chOff x="0" y="0"/>
            <a:chExt cx="722795" cy="74523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2757" cy="7452360"/>
            </a:xfrm>
            <a:custGeom>
              <a:avLst/>
              <a:gdLst/>
              <a:ahLst/>
              <a:cxnLst/>
              <a:rect l="l" t="t" r="r" b="b"/>
              <a:pathLst>
                <a:path w="722757" h="7452360">
                  <a:moveTo>
                    <a:pt x="0" y="0"/>
                  </a:moveTo>
                  <a:lnTo>
                    <a:pt x="722757" y="0"/>
                  </a:lnTo>
                  <a:lnTo>
                    <a:pt x="722757" y="7452360"/>
                  </a:lnTo>
                  <a:lnTo>
                    <a:pt x="0" y="7452360"/>
                  </a:lnTo>
                  <a:close/>
                </a:path>
              </a:pathLst>
            </a:custGeom>
            <a:solidFill>
              <a:srgbClr val="FFC50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9640" y="946623"/>
            <a:ext cx="8823960" cy="8602666"/>
            <a:chOff x="0" y="0"/>
            <a:chExt cx="11765280" cy="11470221"/>
          </a:xfrm>
        </p:grpSpPr>
        <p:sp>
          <p:nvSpPr>
            <p:cNvPr id="8" name="Freeform 8" descr="Close-up of two people's hands pointing at laptop screen with stack of 4 books in background, one person holding a pen"/>
            <p:cNvSpPr/>
            <p:nvPr/>
          </p:nvSpPr>
          <p:spPr>
            <a:xfrm flipH="1">
              <a:off x="0" y="0"/>
              <a:ext cx="11765280" cy="11470259"/>
            </a:xfrm>
            <a:custGeom>
              <a:avLst/>
              <a:gdLst/>
              <a:ahLst/>
              <a:cxnLst/>
              <a:rect l="l" t="t" r="r" b="b"/>
              <a:pathLst>
                <a:path w="11765280" h="11470259">
                  <a:moveTo>
                    <a:pt x="11765280" y="0"/>
                  </a:moveTo>
                  <a:lnTo>
                    <a:pt x="0" y="0"/>
                  </a:lnTo>
                  <a:lnTo>
                    <a:pt x="0" y="11470259"/>
                  </a:lnTo>
                  <a:lnTo>
                    <a:pt x="11765280" y="11470259"/>
                  </a:lnTo>
                  <a:lnTo>
                    <a:pt x="11765280" y="0"/>
                  </a:lnTo>
                  <a:close/>
                </a:path>
              </a:pathLst>
            </a:custGeom>
            <a:blipFill>
              <a:blip r:embed="rId4"/>
              <a:stretch>
                <a:fillRect l="-16041" r="-3019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94846" y="929488"/>
            <a:ext cx="1044007" cy="899951"/>
            <a:chOff x="0" y="0"/>
            <a:chExt cx="1392009" cy="1199934"/>
          </a:xfrm>
        </p:grpSpPr>
        <p:sp>
          <p:nvSpPr>
            <p:cNvPr id="10" name="Freeform 10" descr="A yellow sign with blue and black lines  AI-generated content may be incorrect."/>
            <p:cNvSpPr/>
            <p:nvPr/>
          </p:nvSpPr>
          <p:spPr>
            <a:xfrm>
              <a:off x="0" y="0"/>
              <a:ext cx="1392047" cy="1199896"/>
            </a:xfrm>
            <a:custGeom>
              <a:avLst/>
              <a:gdLst/>
              <a:ahLst/>
              <a:cxnLst/>
              <a:rect l="l" t="t" r="r" b="b"/>
              <a:pathLst>
                <a:path w="1392047" h="1199896">
                  <a:moveTo>
                    <a:pt x="0" y="0"/>
                  </a:moveTo>
                  <a:lnTo>
                    <a:pt x="1392047" y="0"/>
                  </a:lnTo>
                  <a:lnTo>
                    <a:pt x="1392047" y="1199896"/>
                  </a:lnTo>
                  <a:lnTo>
                    <a:pt x="0" y="1199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-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43792" y="1042683"/>
            <a:ext cx="2070954" cy="673560"/>
            <a:chOff x="0" y="0"/>
            <a:chExt cx="2761272" cy="898080"/>
          </a:xfrm>
        </p:grpSpPr>
        <p:sp>
          <p:nvSpPr>
            <p:cNvPr id="12" name="Freeform 12" descr="A close up of a logo  AI-generated content may be incorrect."/>
            <p:cNvSpPr/>
            <p:nvPr/>
          </p:nvSpPr>
          <p:spPr>
            <a:xfrm>
              <a:off x="0" y="0"/>
              <a:ext cx="2761234" cy="898144"/>
            </a:xfrm>
            <a:custGeom>
              <a:avLst/>
              <a:gdLst/>
              <a:ahLst/>
              <a:cxnLst/>
              <a:rect l="l" t="t" r="r" b="b"/>
              <a:pathLst>
                <a:path w="2761234" h="898144">
                  <a:moveTo>
                    <a:pt x="0" y="0"/>
                  </a:moveTo>
                  <a:lnTo>
                    <a:pt x="2761234" y="0"/>
                  </a:lnTo>
                  <a:lnTo>
                    <a:pt x="2761234" y="898144"/>
                  </a:lnTo>
                  <a:lnTo>
                    <a:pt x="0" y="898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 b="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605192" y="963968"/>
            <a:ext cx="1258491" cy="830999"/>
            <a:chOff x="0" y="0"/>
            <a:chExt cx="1677988" cy="1107999"/>
          </a:xfrm>
        </p:grpSpPr>
        <p:sp>
          <p:nvSpPr>
            <p:cNvPr id="14" name="Freeform 14" descr="A blue and white logo  AI-generated content may be incorrect."/>
            <p:cNvSpPr/>
            <p:nvPr/>
          </p:nvSpPr>
          <p:spPr>
            <a:xfrm>
              <a:off x="0" y="0"/>
              <a:ext cx="1678051" cy="1107948"/>
            </a:xfrm>
            <a:custGeom>
              <a:avLst/>
              <a:gdLst/>
              <a:ahLst/>
              <a:cxnLst/>
              <a:rect l="l" t="t" r="r" b="b"/>
              <a:pathLst>
                <a:path w="1678051" h="1107948">
                  <a:moveTo>
                    <a:pt x="0" y="0"/>
                  </a:moveTo>
                  <a:lnTo>
                    <a:pt x="1678051" y="0"/>
                  </a:lnTo>
                  <a:lnTo>
                    <a:pt x="1678051" y="1107948"/>
                  </a:lnTo>
                  <a:lnTo>
                    <a:pt x="0" y="1107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43" r="-140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61825" y="2076450"/>
            <a:ext cx="4963925" cy="1542966"/>
            <a:chOff x="0" y="0"/>
            <a:chExt cx="6618567" cy="20572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18566" cy="2057290"/>
            </a:xfrm>
            <a:custGeom>
              <a:avLst/>
              <a:gdLst/>
              <a:ahLst/>
              <a:cxnLst/>
              <a:rect l="l" t="t" r="r" b="b"/>
              <a:pathLst>
                <a:path w="6618566" h="2057290">
                  <a:moveTo>
                    <a:pt x="0" y="0"/>
                  </a:moveTo>
                  <a:lnTo>
                    <a:pt x="6618566" y="0"/>
                  </a:lnTo>
                  <a:lnTo>
                    <a:pt x="6618566" y="2057290"/>
                  </a:lnTo>
                  <a:lnTo>
                    <a:pt x="0" y="20572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2685" b="-1268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6618567" cy="202871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4860"/>
                </a:lnSpc>
              </a:pPr>
              <a:r>
                <a:rPr lang="en-US" sz="4500" b="1" dirty="0">
                  <a:solidFill>
                    <a:srgbClr val="2131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Cyber Sentinal</a:t>
              </a:r>
            </a:p>
            <a:p>
              <a:pPr algn="l">
                <a:lnSpc>
                  <a:spcPts val="3024"/>
                </a:lnSpc>
              </a:pPr>
              <a:r>
                <a:rPr lang="en-US" sz="2800" dirty="0" err="1">
                  <a:solidFill>
                    <a:srgbClr val="213163"/>
                  </a:solidFill>
                  <a:latin typeface="Arial"/>
                  <a:ea typeface="Arial"/>
                  <a:cs typeface="Arial"/>
                  <a:sym typeface="Arial"/>
                </a:rPr>
                <a:t>CU_CP_Team</a:t>
              </a:r>
              <a:r>
                <a:rPr lang="en-US" sz="2800" dirty="0">
                  <a:solidFill>
                    <a:srgbClr val="213163"/>
                  </a:solidFill>
                  <a:latin typeface="Arial"/>
                  <a:ea typeface="Arial"/>
                  <a:cs typeface="Arial"/>
                  <a:sym typeface="Arial"/>
                </a:rPr>
                <a:t> ID - 12836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652922" y="7028193"/>
            <a:ext cx="6939553" cy="2152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dirty="0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Alampally Prasanna Laxmi </a:t>
            </a:r>
          </a:p>
          <a:p>
            <a:pPr algn="l">
              <a:lnSpc>
                <a:spcPts val="3360"/>
              </a:lnSpc>
            </a:pPr>
            <a:r>
              <a:rPr lang="en-US" sz="2800" dirty="0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Buddiga Susmita</a:t>
            </a:r>
          </a:p>
          <a:p>
            <a:pPr algn="l">
              <a:lnSpc>
                <a:spcPts val="3360"/>
              </a:lnSpc>
            </a:pPr>
            <a:r>
              <a:rPr lang="en-US" sz="2800" dirty="0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Bachala Ramya</a:t>
            </a:r>
          </a:p>
          <a:p>
            <a:pPr>
              <a:lnSpc>
                <a:spcPts val="3360"/>
              </a:lnSpc>
            </a:pPr>
            <a:endParaRPr lang="en-US" sz="2800" dirty="0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60"/>
              </a:lnSpc>
            </a:pPr>
            <a:r>
              <a:rPr lang="en-US" sz="2800" dirty="0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96632" y="8562318"/>
            <a:ext cx="6865991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endParaRPr/>
          </a:p>
          <a:p>
            <a:pPr algn="l">
              <a:lnSpc>
                <a:spcPts val="2879"/>
              </a:lnSpc>
            </a:pPr>
            <a:endParaRPr/>
          </a:p>
          <a:p>
            <a:pPr algn="l">
              <a:lnSpc>
                <a:spcPts val="2879"/>
              </a:lnSpc>
            </a:pPr>
            <a:r>
              <a:rPr lang="en-US" sz="2400" i="1">
                <a:solidFill>
                  <a:srgbClr val="00206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Under the mentorship of,</a:t>
            </a:r>
          </a:p>
          <a:p>
            <a:pPr algn="l">
              <a:lnSpc>
                <a:spcPts val="2879"/>
              </a:lnSpc>
            </a:pPr>
            <a:r>
              <a:rPr lang="en-US" sz="2400" i="1">
                <a:solidFill>
                  <a:srgbClr val="00206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Mentor Name: Kurumurthy Pasupula</a:t>
            </a:r>
          </a:p>
          <a:p>
            <a:pPr algn="l">
              <a:lnSpc>
                <a:spcPts val="2879"/>
              </a:lnSpc>
            </a:pPr>
            <a:endParaRPr lang="en-US" sz="2400" i="1">
              <a:solidFill>
                <a:srgbClr val="002060"/>
              </a:solidFill>
              <a:latin typeface="Times New Roman Italics"/>
              <a:ea typeface="Times New Roman Italics"/>
              <a:cs typeface="Times New Roman Italics"/>
              <a:sym typeface="Times New Roman Italics"/>
            </a:endParaRPr>
          </a:p>
          <a:p>
            <a:pPr algn="l">
              <a:lnSpc>
                <a:spcPts val="2879"/>
              </a:lnSpc>
            </a:pPr>
            <a:endParaRPr lang="en-US" sz="2400" i="1">
              <a:solidFill>
                <a:srgbClr val="002060"/>
              </a:solidFill>
              <a:latin typeface="Times New Roman Italics"/>
              <a:ea typeface="Times New Roman Italics"/>
              <a:cs typeface="Times New Roman Italics"/>
              <a:sym typeface="Times New Roman Itali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0952" y="174155"/>
            <a:ext cx="2700338" cy="863270"/>
            <a:chOff x="0" y="0"/>
            <a:chExt cx="3600450" cy="1151026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5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25146" y="94174"/>
            <a:ext cx="1664208" cy="876986"/>
            <a:chOff x="0" y="0"/>
            <a:chExt cx="2218944" cy="11693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8944" cy="1169289"/>
            </a:xfrm>
            <a:custGeom>
              <a:avLst/>
              <a:gdLst/>
              <a:ahLst/>
              <a:cxnLst/>
              <a:rect l="l" t="t" r="r" b="b"/>
              <a:pathLst>
                <a:path w="2218944" h="1169289">
                  <a:moveTo>
                    <a:pt x="0" y="0"/>
                  </a:moveTo>
                  <a:lnTo>
                    <a:pt x="2218944" y="0"/>
                  </a:lnTo>
                  <a:lnTo>
                    <a:pt x="2218944" y="1169289"/>
                  </a:lnTo>
                  <a:lnTo>
                    <a:pt x="0" y="1169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050" y="0"/>
            <a:ext cx="13187362" cy="1042988"/>
            <a:chOff x="0" y="0"/>
            <a:chExt cx="17583150" cy="1390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83150" cy="1390650"/>
            </a:xfrm>
            <a:custGeom>
              <a:avLst/>
              <a:gdLst/>
              <a:ahLst/>
              <a:cxnLst/>
              <a:rect l="l" t="t" r="r" b="b"/>
              <a:pathLst>
                <a:path w="17583150" h="1390650">
                  <a:moveTo>
                    <a:pt x="0" y="0"/>
                  </a:moveTo>
                  <a:lnTo>
                    <a:pt x="17583150" y="0"/>
                  </a:lnTo>
                  <a:lnTo>
                    <a:pt x="1758315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21316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 rot="7879920">
            <a:off x="11556682" y="725853"/>
            <a:ext cx="2603716" cy="1266815"/>
            <a:chOff x="0" y="0"/>
            <a:chExt cx="3471621" cy="16890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1672" cy="1689100"/>
            </a:xfrm>
            <a:custGeom>
              <a:avLst/>
              <a:gdLst/>
              <a:ahLst/>
              <a:cxnLst/>
              <a:rect l="l" t="t" r="r" b="b"/>
              <a:pathLst>
                <a:path w="3471672" h="1689100">
                  <a:moveTo>
                    <a:pt x="0" y="1689100"/>
                  </a:moveTo>
                  <a:lnTo>
                    <a:pt x="1735836" y="0"/>
                  </a:lnTo>
                  <a:lnTo>
                    <a:pt x="3471672" y="168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91515" y="205740"/>
            <a:ext cx="11661457" cy="58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Creating A Future-ready Workforce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641289" y="-36614"/>
            <a:ext cx="1646711" cy="1074039"/>
            <a:chOff x="0" y="0"/>
            <a:chExt cx="2195614" cy="1432052"/>
          </a:xfrm>
        </p:grpSpPr>
        <p:sp>
          <p:nvSpPr>
            <p:cNvPr id="12" name="Freeform 12" descr="A yellow triangle with black background  AI-generated content may be incorrect."/>
            <p:cNvSpPr/>
            <p:nvPr/>
          </p:nvSpPr>
          <p:spPr>
            <a:xfrm>
              <a:off x="0" y="0"/>
              <a:ext cx="2195576" cy="1432052"/>
            </a:xfrm>
            <a:custGeom>
              <a:avLst/>
              <a:gdLst/>
              <a:ahLst/>
              <a:cxnLst/>
              <a:rect l="l" t="t" r="r" b="b"/>
              <a:pathLst>
                <a:path w="2195576" h="1432052">
                  <a:moveTo>
                    <a:pt x="0" y="0"/>
                  </a:moveTo>
                  <a:lnTo>
                    <a:pt x="2195576" y="0"/>
                  </a:lnTo>
                  <a:lnTo>
                    <a:pt x="2195576" y="1432052"/>
                  </a:lnTo>
                  <a:lnTo>
                    <a:pt x="0" y="1432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1914" b="-770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99440" y="1262444"/>
            <a:ext cx="9185720" cy="97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-15">
                <a:solidFill>
                  <a:srgbClr val="001F5F"/>
                </a:solidFill>
                <a:latin typeface="Arial Bold"/>
                <a:ea typeface="Arial Bold"/>
                <a:cs typeface="Arial Bold"/>
                <a:sym typeface="Arial Bold"/>
              </a:rPr>
              <a:t>Project Objectives</a:t>
            </a:r>
          </a:p>
          <a:p>
            <a:pPr algn="l">
              <a:lnSpc>
                <a:spcPts val="3600"/>
              </a:lnSpc>
            </a:pPr>
            <a:endParaRPr lang="en-US" sz="3000" b="1" spc="-15">
              <a:solidFill>
                <a:srgbClr val="001F5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28015" y="2032625"/>
            <a:ext cx="8415985" cy="5702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6820" lvl="1" indent="-253410" algn="l">
              <a:lnSpc>
                <a:spcPts val="4508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</a:p>
          <a:p>
            <a:pPr marL="506820" lvl="1" indent="-253410" algn="l">
              <a:lnSpc>
                <a:spcPts val="4508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Overview – Introduction</a:t>
            </a:r>
          </a:p>
          <a:p>
            <a:pPr marL="506820" lvl="1" indent="-253410" algn="l">
              <a:lnSpc>
                <a:spcPts val="4508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Users</a:t>
            </a:r>
          </a:p>
          <a:p>
            <a:pPr marL="506820" lvl="1" indent="-253410" algn="l">
              <a:lnSpc>
                <a:spcPts val="4508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Wow Factor in Project</a:t>
            </a:r>
          </a:p>
          <a:p>
            <a:pPr marL="506820" lvl="1" indent="-253410" algn="l">
              <a:lnSpc>
                <a:spcPts val="4508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Modelling/Block Diagram/Flow of Project</a:t>
            </a:r>
          </a:p>
          <a:p>
            <a:pPr marL="506820" lvl="1" indent="-253410" algn="l">
              <a:lnSpc>
                <a:spcPts val="4508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Result/outcomes</a:t>
            </a:r>
          </a:p>
          <a:p>
            <a:pPr marL="506820" lvl="1" indent="-253410" algn="l">
              <a:lnSpc>
                <a:spcPts val="4508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</a:p>
          <a:p>
            <a:pPr marL="506820" lvl="1" indent="-253410" algn="l">
              <a:lnSpc>
                <a:spcPts val="4508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Perspective</a:t>
            </a:r>
          </a:p>
          <a:p>
            <a:pPr marL="506820" lvl="1" indent="-253410" algn="l">
              <a:lnSpc>
                <a:spcPts val="4508"/>
              </a:lnSpc>
            </a:pPr>
            <a:endParaRPr lang="en-US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6820" lvl="1" indent="-253410" algn="l">
              <a:lnSpc>
                <a:spcPts val="4508"/>
              </a:lnSpc>
            </a:pPr>
            <a:endParaRPr lang="en-US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9742037" y="2171700"/>
            <a:ext cx="4704731" cy="2881036"/>
            <a:chOff x="0" y="0"/>
            <a:chExt cx="6272974" cy="3841382"/>
          </a:xfrm>
        </p:grpSpPr>
        <p:sp>
          <p:nvSpPr>
            <p:cNvPr id="16" name="Freeform 16" descr="A group of icons with graphs and charts  AI-generated content may be incorrect."/>
            <p:cNvSpPr/>
            <p:nvPr/>
          </p:nvSpPr>
          <p:spPr>
            <a:xfrm>
              <a:off x="0" y="0"/>
              <a:ext cx="6272911" cy="3841369"/>
            </a:xfrm>
            <a:custGeom>
              <a:avLst/>
              <a:gdLst/>
              <a:ahLst/>
              <a:cxnLst/>
              <a:rect l="l" t="t" r="r" b="b"/>
              <a:pathLst>
                <a:path w="6272911" h="3841369">
                  <a:moveTo>
                    <a:pt x="0" y="0"/>
                  </a:moveTo>
                  <a:lnTo>
                    <a:pt x="6272911" y="0"/>
                  </a:lnTo>
                  <a:lnTo>
                    <a:pt x="6272911" y="3841369"/>
                  </a:lnTo>
                  <a:lnTo>
                    <a:pt x="0" y="3841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019180" y="3628815"/>
            <a:ext cx="4881829" cy="3763947"/>
            <a:chOff x="0" y="0"/>
            <a:chExt cx="6509106" cy="5018596"/>
          </a:xfrm>
        </p:grpSpPr>
        <p:sp>
          <p:nvSpPr>
            <p:cNvPr id="18" name="Freeform 18" descr="A blue arrow hitting a yellow and white target  AI-generated content may be incorrect."/>
            <p:cNvSpPr/>
            <p:nvPr/>
          </p:nvSpPr>
          <p:spPr>
            <a:xfrm>
              <a:off x="0" y="0"/>
              <a:ext cx="6509131" cy="5018532"/>
            </a:xfrm>
            <a:custGeom>
              <a:avLst/>
              <a:gdLst/>
              <a:ahLst/>
              <a:cxnLst/>
              <a:rect l="l" t="t" r="r" b="b"/>
              <a:pathLst>
                <a:path w="6509131" h="5018532">
                  <a:moveTo>
                    <a:pt x="0" y="0"/>
                  </a:moveTo>
                  <a:lnTo>
                    <a:pt x="6509131" y="0"/>
                  </a:lnTo>
                  <a:lnTo>
                    <a:pt x="6509131" y="5018532"/>
                  </a:lnTo>
                  <a:lnTo>
                    <a:pt x="0" y="5018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87505" y="9585036"/>
            <a:ext cx="15786935" cy="32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  <a:hlinkClick r:id="rId7" tooltip="https://www.freepik.com/"/>
              </a:rPr>
              <a:t>https://www.freepik.com/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48938" y="9151620"/>
            <a:ext cx="100543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Source</a:t>
            </a:r>
          </a:p>
        </p:txBody>
      </p:sp>
      <p:sp>
        <p:nvSpPr>
          <p:cNvPr id="21" name="AutoShape 21"/>
          <p:cNvSpPr/>
          <p:nvPr/>
        </p:nvSpPr>
        <p:spPr>
          <a:xfrm rot="-6660">
            <a:off x="9752933" y="9340377"/>
            <a:ext cx="8556498" cy="0"/>
          </a:xfrm>
          <a:prstGeom prst="line">
            <a:avLst/>
          </a:prstGeom>
          <a:ln w="9525" cap="rnd">
            <a:solidFill>
              <a:srgbClr val="FFAB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2" name="AutoShape 22"/>
          <p:cNvSpPr/>
          <p:nvPr/>
        </p:nvSpPr>
        <p:spPr>
          <a:xfrm rot="5760">
            <a:off x="-35728" y="9339262"/>
            <a:ext cx="8501072" cy="0"/>
          </a:xfrm>
          <a:prstGeom prst="line">
            <a:avLst/>
          </a:prstGeom>
          <a:ln w="9525" cap="rnd">
            <a:solidFill>
              <a:srgbClr val="FFAB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0952" y="174155"/>
            <a:ext cx="2700338" cy="863270"/>
            <a:chOff x="0" y="0"/>
            <a:chExt cx="3600450" cy="1151026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5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25146" y="94174"/>
            <a:ext cx="1664208" cy="876986"/>
            <a:chOff x="0" y="0"/>
            <a:chExt cx="2218944" cy="11693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8944" cy="1169289"/>
            </a:xfrm>
            <a:custGeom>
              <a:avLst/>
              <a:gdLst/>
              <a:ahLst/>
              <a:cxnLst/>
              <a:rect l="l" t="t" r="r" b="b"/>
              <a:pathLst>
                <a:path w="2218944" h="1169289">
                  <a:moveTo>
                    <a:pt x="0" y="0"/>
                  </a:moveTo>
                  <a:lnTo>
                    <a:pt x="2218944" y="0"/>
                  </a:lnTo>
                  <a:lnTo>
                    <a:pt x="2218944" y="1169289"/>
                  </a:lnTo>
                  <a:lnTo>
                    <a:pt x="0" y="1169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050" y="0"/>
            <a:ext cx="13187362" cy="1042988"/>
            <a:chOff x="0" y="0"/>
            <a:chExt cx="17583150" cy="1390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83150" cy="1390650"/>
            </a:xfrm>
            <a:custGeom>
              <a:avLst/>
              <a:gdLst/>
              <a:ahLst/>
              <a:cxnLst/>
              <a:rect l="l" t="t" r="r" b="b"/>
              <a:pathLst>
                <a:path w="17583150" h="1390650">
                  <a:moveTo>
                    <a:pt x="0" y="0"/>
                  </a:moveTo>
                  <a:lnTo>
                    <a:pt x="17583150" y="0"/>
                  </a:lnTo>
                  <a:lnTo>
                    <a:pt x="1758315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21316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 rot="7879920">
            <a:off x="11556682" y="725853"/>
            <a:ext cx="2603716" cy="1266815"/>
            <a:chOff x="0" y="0"/>
            <a:chExt cx="3471621" cy="16890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1672" cy="1689100"/>
            </a:xfrm>
            <a:custGeom>
              <a:avLst/>
              <a:gdLst/>
              <a:ahLst/>
              <a:cxnLst/>
              <a:rect l="l" t="t" r="r" b="b"/>
              <a:pathLst>
                <a:path w="3471672" h="1689100">
                  <a:moveTo>
                    <a:pt x="0" y="1689100"/>
                  </a:moveTo>
                  <a:lnTo>
                    <a:pt x="1735836" y="0"/>
                  </a:lnTo>
                  <a:lnTo>
                    <a:pt x="3471672" y="168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91515" y="205740"/>
            <a:ext cx="11661457" cy="58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Creating A Future-ready Workforce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641289" y="-36614"/>
            <a:ext cx="1646711" cy="1074039"/>
            <a:chOff x="0" y="0"/>
            <a:chExt cx="2195614" cy="1432052"/>
          </a:xfrm>
        </p:grpSpPr>
        <p:sp>
          <p:nvSpPr>
            <p:cNvPr id="12" name="Freeform 12" descr="A yellow triangle with black background  AI-generated content may be incorrect."/>
            <p:cNvSpPr/>
            <p:nvPr/>
          </p:nvSpPr>
          <p:spPr>
            <a:xfrm>
              <a:off x="0" y="0"/>
              <a:ext cx="2195576" cy="1432052"/>
            </a:xfrm>
            <a:custGeom>
              <a:avLst/>
              <a:gdLst/>
              <a:ahLst/>
              <a:cxnLst/>
              <a:rect l="l" t="t" r="r" b="b"/>
              <a:pathLst>
                <a:path w="2195576" h="1432052">
                  <a:moveTo>
                    <a:pt x="0" y="0"/>
                  </a:moveTo>
                  <a:lnTo>
                    <a:pt x="2195576" y="0"/>
                  </a:lnTo>
                  <a:lnTo>
                    <a:pt x="2195576" y="1432052"/>
                  </a:lnTo>
                  <a:lnTo>
                    <a:pt x="0" y="1432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1914" b="-770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77228" y="1248251"/>
            <a:ext cx="8834914" cy="487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1" y="2051675"/>
            <a:ext cx="15201899" cy="4337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98653" lvl="1" algn="just">
              <a:lnSpc>
                <a:spcPts val="4851"/>
              </a:lnSpc>
              <a:spcBef>
                <a:spcPct val="0"/>
              </a:spcBef>
            </a:pPr>
            <a:r>
              <a:rPr lang="en-US" sz="330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Organizations face increasing cyber threats that traditional security systems fail to detect in real-time. Manual threat analysis is slow, error‑prone, and cannot scale with growing network traffic. There's a critical need for an automated, intelligent system that can detect anomalies, classify threats, and suggest immediate responses. Such a system also helps reduce human workload, improves accuracy, and strengthens overall resilience against fast‑moving attacks.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0952" y="174155"/>
            <a:ext cx="2700338" cy="863270"/>
            <a:chOff x="0" y="0"/>
            <a:chExt cx="3600450" cy="1151026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5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25146" y="94174"/>
            <a:ext cx="1664208" cy="876986"/>
            <a:chOff x="0" y="0"/>
            <a:chExt cx="2218944" cy="11693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8944" cy="1169289"/>
            </a:xfrm>
            <a:custGeom>
              <a:avLst/>
              <a:gdLst/>
              <a:ahLst/>
              <a:cxnLst/>
              <a:rect l="l" t="t" r="r" b="b"/>
              <a:pathLst>
                <a:path w="2218944" h="1169289">
                  <a:moveTo>
                    <a:pt x="0" y="0"/>
                  </a:moveTo>
                  <a:lnTo>
                    <a:pt x="2218944" y="0"/>
                  </a:lnTo>
                  <a:lnTo>
                    <a:pt x="2218944" y="1169289"/>
                  </a:lnTo>
                  <a:lnTo>
                    <a:pt x="0" y="1169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050" y="0"/>
            <a:ext cx="13187362" cy="1042988"/>
            <a:chOff x="0" y="0"/>
            <a:chExt cx="17583150" cy="1390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83150" cy="1390650"/>
            </a:xfrm>
            <a:custGeom>
              <a:avLst/>
              <a:gdLst/>
              <a:ahLst/>
              <a:cxnLst/>
              <a:rect l="l" t="t" r="r" b="b"/>
              <a:pathLst>
                <a:path w="17583150" h="1390650">
                  <a:moveTo>
                    <a:pt x="0" y="0"/>
                  </a:moveTo>
                  <a:lnTo>
                    <a:pt x="17583150" y="0"/>
                  </a:lnTo>
                  <a:lnTo>
                    <a:pt x="1758315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21316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 rot="7879920">
            <a:off x="11556682" y="725853"/>
            <a:ext cx="2603716" cy="1266815"/>
            <a:chOff x="0" y="0"/>
            <a:chExt cx="3471621" cy="16890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1672" cy="1689100"/>
            </a:xfrm>
            <a:custGeom>
              <a:avLst/>
              <a:gdLst/>
              <a:ahLst/>
              <a:cxnLst/>
              <a:rect l="l" t="t" r="r" b="b"/>
              <a:pathLst>
                <a:path w="3471672" h="1689100">
                  <a:moveTo>
                    <a:pt x="0" y="1689100"/>
                  </a:moveTo>
                  <a:lnTo>
                    <a:pt x="1735836" y="0"/>
                  </a:lnTo>
                  <a:lnTo>
                    <a:pt x="3471672" y="168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91515" y="205740"/>
            <a:ext cx="11661457" cy="58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Creating A Future-ready Workforce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641289" y="-36614"/>
            <a:ext cx="1646711" cy="1074039"/>
            <a:chOff x="0" y="0"/>
            <a:chExt cx="2195614" cy="1432052"/>
          </a:xfrm>
        </p:grpSpPr>
        <p:sp>
          <p:nvSpPr>
            <p:cNvPr id="12" name="Freeform 12" descr="A yellow triangle with black background  AI-generated content may be incorrect."/>
            <p:cNvSpPr/>
            <p:nvPr/>
          </p:nvSpPr>
          <p:spPr>
            <a:xfrm>
              <a:off x="0" y="0"/>
              <a:ext cx="2195576" cy="1432052"/>
            </a:xfrm>
            <a:custGeom>
              <a:avLst/>
              <a:gdLst/>
              <a:ahLst/>
              <a:cxnLst/>
              <a:rect l="l" t="t" r="r" b="b"/>
              <a:pathLst>
                <a:path w="2195576" h="1432052">
                  <a:moveTo>
                    <a:pt x="0" y="0"/>
                  </a:moveTo>
                  <a:lnTo>
                    <a:pt x="2195576" y="0"/>
                  </a:lnTo>
                  <a:lnTo>
                    <a:pt x="2195576" y="1432052"/>
                  </a:lnTo>
                  <a:lnTo>
                    <a:pt x="0" y="1432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1914" b="-770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77228" y="1248251"/>
            <a:ext cx="8834914" cy="487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Project overview - Introduction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8015" y="1937375"/>
            <a:ext cx="16738045" cy="7293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6"/>
              </a:lnSpc>
            </a:pPr>
            <a:r>
              <a:rPr lang="en-US" sz="307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CyberSentinel is an </a:t>
            </a:r>
            <a:r>
              <a:rPr lang="en-US" sz="307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AI-powered Security Operations Center (SOC) dashboard</a:t>
            </a:r>
            <a:r>
              <a:rPr lang="en-US" sz="307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combines:</a:t>
            </a:r>
          </a:p>
          <a:p>
            <a:pPr marL="663259" lvl="1" indent="-331630" algn="l">
              <a:lnSpc>
                <a:spcPts val="5806"/>
              </a:lnSpc>
              <a:buFont typeface="Arial"/>
              <a:buChar char="•"/>
            </a:pPr>
            <a:r>
              <a:rPr lang="en-US" sz="307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Machine Learning</a:t>
            </a:r>
            <a:r>
              <a:rPr lang="en-US" sz="307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Uses Isolation Forest algorithm to detect network anomalies</a:t>
            </a:r>
          </a:p>
          <a:p>
            <a:pPr marL="663259" lvl="1" indent="-331630" algn="l">
              <a:lnSpc>
                <a:spcPts val="5806"/>
              </a:lnSpc>
              <a:buFont typeface="Arial"/>
              <a:buChar char="•"/>
            </a:pPr>
            <a:r>
              <a:rPr lang="en-US" sz="307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Agentic AI</a:t>
            </a:r>
            <a:r>
              <a:rPr lang="en-US" sz="307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Intelligent rule-based decision making for threat classification</a:t>
            </a:r>
          </a:p>
          <a:p>
            <a:pPr marL="663259" lvl="1" indent="-331630" algn="l">
              <a:lnSpc>
                <a:spcPts val="5806"/>
              </a:lnSpc>
              <a:buFont typeface="Arial"/>
              <a:buChar char="•"/>
            </a:pPr>
            <a:r>
              <a:rPr lang="en-US" sz="307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Real-time Monitoring</a:t>
            </a:r>
            <a:r>
              <a:rPr lang="en-US" sz="307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Live attack feed visualization</a:t>
            </a:r>
          </a:p>
          <a:p>
            <a:pPr marL="663259" lvl="1" indent="-331630" algn="l">
              <a:lnSpc>
                <a:spcPts val="5806"/>
              </a:lnSpc>
              <a:buFont typeface="Arial"/>
              <a:buChar char="•"/>
            </a:pPr>
            <a:r>
              <a:rPr lang="en-US" sz="307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Automated Response</a:t>
            </a:r>
            <a:r>
              <a:rPr lang="en-US" sz="307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Recommends actions like "Block IP" or "Isolate System"</a:t>
            </a:r>
          </a:p>
          <a:p>
            <a:pPr algn="l">
              <a:lnSpc>
                <a:spcPts val="5806"/>
              </a:lnSpc>
            </a:pPr>
            <a:r>
              <a:rPr lang="en-US" sz="307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analyzes network logs including:</a:t>
            </a:r>
          </a:p>
          <a:p>
            <a:pPr marL="663259" lvl="1" indent="-331630" algn="l">
              <a:lnSpc>
                <a:spcPts val="5806"/>
              </a:lnSpc>
              <a:buFont typeface="Arial"/>
              <a:buChar char="•"/>
            </a:pPr>
            <a:r>
              <a:rPr lang="en-US" sz="307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count</a:t>
            </a:r>
          </a:p>
          <a:p>
            <a:pPr marL="663259" lvl="1" indent="-331630" algn="l">
              <a:lnSpc>
                <a:spcPts val="5806"/>
              </a:lnSpc>
              <a:buFont typeface="Arial"/>
              <a:buChar char="•"/>
            </a:pPr>
            <a:r>
              <a:rPr lang="en-US" sz="307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Failed login attempts</a:t>
            </a:r>
          </a:p>
          <a:p>
            <a:pPr marL="663259" lvl="1" indent="-331630" algn="l">
              <a:lnSpc>
                <a:spcPts val="5806"/>
              </a:lnSpc>
              <a:buFont typeface="Arial"/>
              <a:buChar char="•"/>
            </a:pPr>
            <a:r>
              <a:rPr lang="en-US" sz="307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Session duration</a:t>
            </a:r>
          </a:p>
          <a:p>
            <a:pPr algn="l">
              <a:lnSpc>
                <a:spcPts val="5806"/>
              </a:lnSpc>
            </a:pPr>
            <a:endParaRPr lang="en-US" sz="307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0952" y="174155"/>
            <a:ext cx="2700338" cy="863270"/>
            <a:chOff x="0" y="0"/>
            <a:chExt cx="3600450" cy="1151026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5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25146" y="94174"/>
            <a:ext cx="1664208" cy="876986"/>
            <a:chOff x="0" y="0"/>
            <a:chExt cx="2218944" cy="11693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8944" cy="1169289"/>
            </a:xfrm>
            <a:custGeom>
              <a:avLst/>
              <a:gdLst/>
              <a:ahLst/>
              <a:cxnLst/>
              <a:rect l="l" t="t" r="r" b="b"/>
              <a:pathLst>
                <a:path w="2218944" h="1169289">
                  <a:moveTo>
                    <a:pt x="0" y="0"/>
                  </a:moveTo>
                  <a:lnTo>
                    <a:pt x="2218944" y="0"/>
                  </a:lnTo>
                  <a:lnTo>
                    <a:pt x="2218944" y="1169289"/>
                  </a:lnTo>
                  <a:lnTo>
                    <a:pt x="0" y="1169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050" y="0"/>
            <a:ext cx="13187362" cy="1042988"/>
            <a:chOff x="0" y="0"/>
            <a:chExt cx="17583150" cy="1390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83150" cy="1390650"/>
            </a:xfrm>
            <a:custGeom>
              <a:avLst/>
              <a:gdLst/>
              <a:ahLst/>
              <a:cxnLst/>
              <a:rect l="l" t="t" r="r" b="b"/>
              <a:pathLst>
                <a:path w="17583150" h="1390650">
                  <a:moveTo>
                    <a:pt x="0" y="0"/>
                  </a:moveTo>
                  <a:lnTo>
                    <a:pt x="17583150" y="0"/>
                  </a:lnTo>
                  <a:lnTo>
                    <a:pt x="1758315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21316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 rot="7879920">
            <a:off x="11556682" y="725853"/>
            <a:ext cx="2603716" cy="1266815"/>
            <a:chOff x="0" y="0"/>
            <a:chExt cx="3471621" cy="16890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1672" cy="1689100"/>
            </a:xfrm>
            <a:custGeom>
              <a:avLst/>
              <a:gdLst/>
              <a:ahLst/>
              <a:cxnLst/>
              <a:rect l="l" t="t" r="r" b="b"/>
              <a:pathLst>
                <a:path w="3471672" h="1689100">
                  <a:moveTo>
                    <a:pt x="0" y="1689100"/>
                  </a:moveTo>
                  <a:lnTo>
                    <a:pt x="1735836" y="0"/>
                  </a:lnTo>
                  <a:lnTo>
                    <a:pt x="3471672" y="168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91515" y="205740"/>
            <a:ext cx="11661457" cy="58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Creating A Future-ready Workforce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641289" y="-36614"/>
            <a:ext cx="1646711" cy="1074039"/>
            <a:chOff x="0" y="0"/>
            <a:chExt cx="2195614" cy="1432052"/>
          </a:xfrm>
        </p:grpSpPr>
        <p:sp>
          <p:nvSpPr>
            <p:cNvPr id="12" name="Freeform 12" descr="A yellow triangle with black background  AI-generated content may be incorrect."/>
            <p:cNvSpPr/>
            <p:nvPr/>
          </p:nvSpPr>
          <p:spPr>
            <a:xfrm>
              <a:off x="0" y="0"/>
              <a:ext cx="2195576" cy="1432052"/>
            </a:xfrm>
            <a:custGeom>
              <a:avLst/>
              <a:gdLst/>
              <a:ahLst/>
              <a:cxnLst/>
              <a:rect l="l" t="t" r="r" b="b"/>
              <a:pathLst>
                <a:path w="2195576" h="1432052">
                  <a:moveTo>
                    <a:pt x="0" y="0"/>
                  </a:moveTo>
                  <a:lnTo>
                    <a:pt x="2195576" y="0"/>
                  </a:lnTo>
                  <a:lnTo>
                    <a:pt x="2195576" y="1432052"/>
                  </a:lnTo>
                  <a:lnTo>
                    <a:pt x="0" y="1432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1914" b="-770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77228" y="1248251"/>
            <a:ext cx="8834914" cy="487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End User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8015" y="1927850"/>
            <a:ext cx="11417380" cy="3521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6820" lvl="1" indent="-253410" algn="l">
              <a:lnSpc>
                <a:spcPts val="5629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Analysts - Monitor threats and investigate alerts</a:t>
            </a:r>
          </a:p>
          <a:p>
            <a:pPr marL="506820" lvl="1" indent="-253410" algn="l">
              <a:lnSpc>
                <a:spcPts val="5629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 Teams - Get automated threat intelligence</a:t>
            </a:r>
          </a:p>
          <a:p>
            <a:pPr marL="506820" lvl="1" indent="-253410" algn="l">
              <a:lnSpc>
                <a:spcPts val="5629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Administrators - Receive actionable response recommendations</a:t>
            </a:r>
          </a:p>
          <a:p>
            <a:pPr marL="506820" lvl="1" indent="-253410" algn="l">
              <a:lnSpc>
                <a:spcPts val="5629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to Medium Businesses - Affordable security monitoring solution</a:t>
            </a:r>
          </a:p>
          <a:p>
            <a:pPr marL="506820" lvl="1" indent="-253410" algn="l">
              <a:lnSpc>
                <a:spcPts val="5629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Educational Institutions - Learn about AI in cybersecurity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0952" y="174155"/>
            <a:ext cx="2700338" cy="863270"/>
            <a:chOff x="0" y="0"/>
            <a:chExt cx="3600450" cy="1151026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5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25146" y="94174"/>
            <a:ext cx="1664208" cy="876986"/>
            <a:chOff x="0" y="0"/>
            <a:chExt cx="2218944" cy="11693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8944" cy="1169289"/>
            </a:xfrm>
            <a:custGeom>
              <a:avLst/>
              <a:gdLst/>
              <a:ahLst/>
              <a:cxnLst/>
              <a:rect l="l" t="t" r="r" b="b"/>
              <a:pathLst>
                <a:path w="2218944" h="1169289">
                  <a:moveTo>
                    <a:pt x="0" y="0"/>
                  </a:moveTo>
                  <a:lnTo>
                    <a:pt x="2218944" y="0"/>
                  </a:lnTo>
                  <a:lnTo>
                    <a:pt x="2218944" y="1169289"/>
                  </a:lnTo>
                  <a:lnTo>
                    <a:pt x="0" y="1169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050" y="0"/>
            <a:ext cx="13187362" cy="1042988"/>
            <a:chOff x="0" y="0"/>
            <a:chExt cx="17583150" cy="1390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83150" cy="1390650"/>
            </a:xfrm>
            <a:custGeom>
              <a:avLst/>
              <a:gdLst/>
              <a:ahLst/>
              <a:cxnLst/>
              <a:rect l="l" t="t" r="r" b="b"/>
              <a:pathLst>
                <a:path w="17583150" h="1390650">
                  <a:moveTo>
                    <a:pt x="0" y="0"/>
                  </a:moveTo>
                  <a:lnTo>
                    <a:pt x="17583150" y="0"/>
                  </a:lnTo>
                  <a:lnTo>
                    <a:pt x="1758315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21316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 rot="7879920">
            <a:off x="11556682" y="725853"/>
            <a:ext cx="2603716" cy="1266815"/>
            <a:chOff x="0" y="0"/>
            <a:chExt cx="3471621" cy="16890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1672" cy="1689100"/>
            </a:xfrm>
            <a:custGeom>
              <a:avLst/>
              <a:gdLst/>
              <a:ahLst/>
              <a:cxnLst/>
              <a:rect l="l" t="t" r="r" b="b"/>
              <a:pathLst>
                <a:path w="3471672" h="1689100">
                  <a:moveTo>
                    <a:pt x="0" y="1689100"/>
                  </a:moveTo>
                  <a:lnTo>
                    <a:pt x="1735836" y="0"/>
                  </a:lnTo>
                  <a:lnTo>
                    <a:pt x="3471672" y="168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91515" y="205740"/>
            <a:ext cx="11661457" cy="58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Creating A Future-ready Workforce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641289" y="-36614"/>
            <a:ext cx="1646711" cy="1074039"/>
            <a:chOff x="0" y="0"/>
            <a:chExt cx="2195614" cy="1432052"/>
          </a:xfrm>
        </p:grpSpPr>
        <p:sp>
          <p:nvSpPr>
            <p:cNvPr id="12" name="Freeform 12" descr="A yellow triangle with black background  AI-generated content may be incorrect."/>
            <p:cNvSpPr/>
            <p:nvPr/>
          </p:nvSpPr>
          <p:spPr>
            <a:xfrm>
              <a:off x="0" y="0"/>
              <a:ext cx="2195576" cy="1432052"/>
            </a:xfrm>
            <a:custGeom>
              <a:avLst/>
              <a:gdLst/>
              <a:ahLst/>
              <a:cxnLst/>
              <a:rect l="l" t="t" r="r" b="b"/>
              <a:pathLst>
                <a:path w="2195576" h="1432052">
                  <a:moveTo>
                    <a:pt x="0" y="0"/>
                  </a:moveTo>
                  <a:lnTo>
                    <a:pt x="2195576" y="0"/>
                  </a:lnTo>
                  <a:lnTo>
                    <a:pt x="2195576" y="1432052"/>
                  </a:lnTo>
                  <a:lnTo>
                    <a:pt x="0" y="1432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1914" b="-770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77228" y="1303496"/>
            <a:ext cx="8834914" cy="487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Wow factor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0636" y="2171700"/>
            <a:ext cx="16666727" cy="710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09"/>
              </a:lnSpc>
            </a:pPr>
            <a:r>
              <a:rPr lang="en-US" sz="271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1.Dual-AI Architecture</a:t>
            </a:r>
          </a:p>
          <a:p>
            <a:pPr algn="just">
              <a:lnSpc>
                <a:spcPts val="4309"/>
              </a:lnSpc>
            </a:pPr>
            <a:r>
              <a:rPr lang="en-US" sz="271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(Isolation Forest) + Agentic AI (Rule-based Reasoning) in one pipeline. ML detects unknown anomalies while Agentic AI provides intelligent, context-aware decisions.</a:t>
            </a:r>
          </a:p>
          <a:p>
            <a:pPr algn="just">
              <a:lnSpc>
                <a:spcPts val="4309"/>
              </a:lnSpc>
            </a:pPr>
            <a:r>
              <a:rPr lang="en-US" sz="271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Real-time Attack Simulation</a:t>
            </a:r>
          </a:p>
          <a:p>
            <a:pPr algn="just">
              <a:lnSpc>
                <a:spcPts val="4309"/>
              </a:lnSpc>
            </a:pPr>
            <a:r>
              <a:rPr lang="en-US" sz="271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 attack feed auto-refreshes every 5 seconds simulating DDoS, Brute Force, Port Scans, and Malware Traffic - creates immersive SOC experience without real attack infrastructure.</a:t>
            </a:r>
          </a:p>
          <a:p>
            <a:pPr algn="just">
              <a:lnSpc>
                <a:spcPts val="4309"/>
              </a:lnSpc>
            </a:pPr>
            <a:r>
              <a:rPr lang="en-US" sz="271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3. Multi-threat Intelligence</a:t>
            </a:r>
          </a:p>
          <a:p>
            <a:pPr algn="just">
              <a:lnSpc>
                <a:spcPts val="4309"/>
              </a:lnSpc>
            </a:pPr>
            <a:r>
              <a:rPr lang="en-US" sz="271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Identifies 4+ specific attack types beyond binary classification - provides attack-specific context for faster, more accurate incident response.</a:t>
            </a:r>
          </a:p>
          <a:p>
            <a:pPr algn="just">
              <a:lnSpc>
                <a:spcPts val="4309"/>
              </a:lnSpc>
            </a:pPr>
            <a:r>
              <a:rPr lang="en-US" sz="271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4. </a:t>
            </a:r>
            <a:r>
              <a:rPr lang="en-US" sz="271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Zero-configuration Deployment</a:t>
            </a:r>
          </a:p>
          <a:p>
            <a:pPr algn="just">
              <a:lnSpc>
                <a:spcPts val="4309"/>
              </a:lnSpc>
            </a:pPr>
            <a:r>
              <a:rPr lang="en-US" sz="271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 out-of-the-box with automatic directory creation, no database setup, no training data required - deploy within minutes with professional-grade SOC dashboard.</a:t>
            </a:r>
          </a:p>
          <a:p>
            <a:pPr algn="just">
              <a:lnSpc>
                <a:spcPts val="4309"/>
              </a:lnSpc>
            </a:pPr>
            <a:endParaRPr lang="en-US" sz="271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0952" y="174155"/>
            <a:ext cx="2700338" cy="863270"/>
            <a:chOff x="0" y="0"/>
            <a:chExt cx="3600450" cy="1151026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5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25146" y="94174"/>
            <a:ext cx="1664208" cy="876986"/>
            <a:chOff x="0" y="0"/>
            <a:chExt cx="2218944" cy="11693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8944" cy="1169289"/>
            </a:xfrm>
            <a:custGeom>
              <a:avLst/>
              <a:gdLst/>
              <a:ahLst/>
              <a:cxnLst/>
              <a:rect l="l" t="t" r="r" b="b"/>
              <a:pathLst>
                <a:path w="2218944" h="1169289">
                  <a:moveTo>
                    <a:pt x="0" y="0"/>
                  </a:moveTo>
                  <a:lnTo>
                    <a:pt x="2218944" y="0"/>
                  </a:lnTo>
                  <a:lnTo>
                    <a:pt x="2218944" y="1169289"/>
                  </a:lnTo>
                  <a:lnTo>
                    <a:pt x="0" y="1169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050" y="0"/>
            <a:ext cx="13187362" cy="1042988"/>
            <a:chOff x="0" y="0"/>
            <a:chExt cx="17583150" cy="1390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83150" cy="1390650"/>
            </a:xfrm>
            <a:custGeom>
              <a:avLst/>
              <a:gdLst/>
              <a:ahLst/>
              <a:cxnLst/>
              <a:rect l="l" t="t" r="r" b="b"/>
              <a:pathLst>
                <a:path w="17583150" h="1390650">
                  <a:moveTo>
                    <a:pt x="0" y="0"/>
                  </a:moveTo>
                  <a:lnTo>
                    <a:pt x="17583150" y="0"/>
                  </a:lnTo>
                  <a:lnTo>
                    <a:pt x="1758315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21316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 rot="7879920">
            <a:off x="11556682" y="725853"/>
            <a:ext cx="2603716" cy="1266815"/>
            <a:chOff x="0" y="0"/>
            <a:chExt cx="3471621" cy="16890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1672" cy="1689100"/>
            </a:xfrm>
            <a:custGeom>
              <a:avLst/>
              <a:gdLst/>
              <a:ahLst/>
              <a:cxnLst/>
              <a:rect l="l" t="t" r="r" b="b"/>
              <a:pathLst>
                <a:path w="3471672" h="1689100">
                  <a:moveTo>
                    <a:pt x="0" y="1689100"/>
                  </a:moveTo>
                  <a:lnTo>
                    <a:pt x="1735836" y="0"/>
                  </a:lnTo>
                  <a:lnTo>
                    <a:pt x="3471672" y="168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641289" y="-36614"/>
            <a:ext cx="1646711" cy="1074039"/>
            <a:chOff x="0" y="0"/>
            <a:chExt cx="2195614" cy="1432052"/>
          </a:xfrm>
        </p:grpSpPr>
        <p:sp>
          <p:nvSpPr>
            <p:cNvPr id="11" name="Freeform 11" descr="A yellow triangle with black background  AI-generated content may be incorrect."/>
            <p:cNvSpPr/>
            <p:nvPr/>
          </p:nvSpPr>
          <p:spPr>
            <a:xfrm>
              <a:off x="0" y="0"/>
              <a:ext cx="2195576" cy="1432052"/>
            </a:xfrm>
            <a:custGeom>
              <a:avLst/>
              <a:gdLst/>
              <a:ahLst/>
              <a:cxnLst/>
              <a:rect l="l" t="t" r="r" b="b"/>
              <a:pathLst>
                <a:path w="2195576" h="1432052">
                  <a:moveTo>
                    <a:pt x="0" y="0"/>
                  </a:moveTo>
                  <a:lnTo>
                    <a:pt x="2195576" y="0"/>
                  </a:lnTo>
                  <a:lnTo>
                    <a:pt x="2195576" y="1432052"/>
                  </a:lnTo>
                  <a:lnTo>
                    <a:pt x="0" y="1432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1914" b="-770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230981" y="3868278"/>
            <a:ext cx="17689781" cy="2851489"/>
          </a:xfrm>
          <a:custGeom>
            <a:avLst/>
            <a:gdLst/>
            <a:ahLst/>
            <a:cxnLst/>
            <a:rect l="l" t="t" r="r" b="b"/>
            <a:pathLst>
              <a:path w="17689781" h="2851489">
                <a:moveTo>
                  <a:pt x="0" y="0"/>
                </a:moveTo>
                <a:lnTo>
                  <a:pt x="17689781" y="0"/>
                </a:lnTo>
                <a:lnTo>
                  <a:pt x="17689781" y="2851490"/>
                </a:lnTo>
                <a:lnTo>
                  <a:pt x="0" y="2851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348" b="-1071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691515" y="205740"/>
            <a:ext cx="11661457" cy="58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Creating A Future-ready Workforce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7228" y="1248251"/>
            <a:ext cx="8834914" cy="487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Modelling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0952" y="174155"/>
            <a:ext cx="2700338" cy="863270"/>
            <a:chOff x="0" y="0"/>
            <a:chExt cx="3600450" cy="1151026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5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25146" y="94174"/>
            <a:ext cx="1664208" cy="876986"/>
            <a:chOff x="0" y="0"/>
            <a:chExt cx="2218944" cy="11693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8944" cy="1169289"/>
            </a:xfrm>
            <a:custGeom>
              <a:avLst/>
              <a:gdLst/>
              <a:ahLst/>
              <a:cxnLst/>
              <a:rect l="l" t="t" r="r" b="b"/>
              <a:pathLst>
                <a:path w="2218944" h="1169289">
                  <a:moveTo>
                    <a:pt x="0" y="0"/>
                  </a:moveTo>
                  <a:lnTo>
                    <a:pt x="2218944" y="0"/>
                  </a:lnTo>
                  <a:lnTo>
                    <a:pt x="2218944" y="1169289"/>
                  </a:lnTo>
                  <a:lnTo>
                    <a:pt x="0" y="1169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050" y="0"/>
            <a:ext cx="13187362" cy="1042988"/>
            <a:chOff x="0" y="0"/>
            <a:chExt cx="17583150" cy="1390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83150" cy="1390650"/>
            </a:xfrm>
            <a:custGeom>
              <a:avLst/>
              <a:gdLst/>
              <a:ahLst/>
              <a:cxnLst/>
              <a:rect l="l" t="t" r="r" b="b"/>
              <a:pathLst>
                <a:path w="17583150" h="1390650">
                  <a:moveTo>
                    <a:pt x="0" y="0"/>
                  </a:moveTo>
                  <a:lnTo>
                    <a:pt x="17583150" y="0"/>
                  </a:lnTo>
                  <a:lnTo>
                    <a:pt x="1758315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21316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 rot="7879920">
            <a:off x="11556682" y="725853"/>
            <a:ext cx="2603716" cy="1266815"/>
            <a:chOff x="0" y="0"/>
            <a:chExt cx="3471621" cy="16890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1672" cy="1689100"/>
            </a:xfrm>
            <a:custGeom>
              <a:avLst/>
              <a:gdLst/>
              <a:ahLst/>
              <a:cxnLst/>
              <a:rect l="l" t="t" r="r" b="b"/>
              <a:pathLst>
                <a:path w="3471672" h="1689100">
                  <a:moveTo>
                    <a:pt x="0" y="1689100"/>
                  </a:moveTo>
                  <a:lnTo>
                    <a:pt x="1735836" y="0"/>
                  </a:lnTo>
                  <a:lnTo>
                    <a:pt x="3471672" y="168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641289" y="-36614"/>
            <a:ext cx="1646711" cy="1074039"/>
            <a:chOff x="0" y="0"/>
            <a:chExt cx="2195614" cy="1432052"/>
          </a:xfrm>
        </p:grpSpPr>
        <p:sp>
          <p:nvSpPr>
            <p:cNvPr id="11" name="Freeform 11" descr="A yellow triangle with black background  AI-generated content may be incorrect."/>
            <p:cNvSpPr/>
            <p:nvPr/>
          </p:nvSpPr>
          <p:spPr>
            <a:xfrm>
              <a:off x="0" y="0"/>
              <a:ext cx="2195576" cy="1432052"/>
            </a:xfrm>
            <a:custGeom>
              <a:avLst/>
              <a:gdLst/>
              <a:ahLst/>
              <a:cxnLst/>
              <a:rect l="l" t="t" r="r" b="b"/>
              <a:pathLst>
                <a:path w="2195576" h="1432052">
                  <a:moveTo>
                    <a:pt x="0" y="0"/>
                  </a:moveTo>
                  <a:lnTo>
                    <a:pt x="2195576" y="0"/>
                  </a:lnTo>
                  <a:lnTo>
                    <a:pt x="2195576" y="1432052"/>
                  </a:lnTo>
                  <a:lnTo>
                    <a:pt x="0" y="1432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1914" b="-770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642251" y="2019300"/>
            <a:ext cx="4800600" cy="3200400"/>
          </a:xfrm>
          <a:custGeom>
            <a:avLst/>
            <a:gdLst/>
            <a:ahLst/>
            <a:cxnLst/>
            <a:rect l="l" t="t" r="r" b="b"/>
            <a:pathLst>
              <a:path w="10060742" h="4989020">
                <a:moveTo>
                  <a:pt x="0" y="0"/>
                </a:moveTo>
                <a:lnTo>
                  <a:pt x="10060742" y="0"/>
                </a:lnTo>
                <a:lnTo>
                  <a:pt x="10060742" y="4989020"/>
                </a:lnTo>
                <a:lnTo>
                  <a:pt x="0" y="49890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6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Freeform 13"/>
          <p:cNvSpPr/>
          <p:nvPr/>
        </p:nvSpPr>
        <p:spPr>
          <a:xfrm>
            <a:off x="12324607" y="2273675"/>
            <a:ext cx="5321142" cy="2884114"/>
          </a:xfrm>
          <a:custGeom>
            <a:avLst/>
            <a:gdLst/>
            <a:ahLst/>
            <a:cxnLst/>
            <a:rect l="l" t="t" r="r" b="b"/>
            <a:pathLst>
              <a:path w="9428377" h="4043890">
                <a:moveTo>
                  <a:pt x="0" y="0"/>
                </a:moveTo>
                <a:lnTo>
                  <a:pt x="9428377" y="0"/>
                </a:lnTo>
                <a:lnTo>
                  <a:pt x="9428377" y="4043890"/>
                </a:lnTo>
                <a:lnTo>
                  <a:pt x="0" y="40438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TextBox 14"/>
          <p:cNvSpPr txBox="1"/>
          <p:nvPr/>
        </p:nvSpPr>
        <p:spPr>
          <a:xfrm>
            <a:off x="691515" y="205740"/>
            <a:ext cx="11661457" cy="58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Creating A Future-ready Workforce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7228" y="1248251"/>
            <a:ext cx="8834914" cy="487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Result / Outcomes</a:t>
            </a:r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05DBEB2A-B0BE-27B1-7F67-C91214DE92B1}"/>
              </a:ext>
            </a:extLst>
          </p:cNvPr>
          <p:cNvSpPr/>
          <p:nvPr/>
        </p:nvSpPr>
        <p:spPr>
          <a:xfrm>
            <a:off x="6435014" y="2192655"/>
            <a:ext cx="5417972" cy="2965134"/>
          </a:xfrm>
          <a:custGeom>
            <a:avLst/>
            <a:gdLst/>
            <a:ahLst/>
            <a:cxnLst/>
            <a:rect l="l" t="t" r="r" b="b"/>
            <a:pathLst>
              <a:path w="8995060" h="6041174">
                <a:moveTo>
                  <a:pt x="0" y="0"/>
                </a:moveTo>
                <a:lnTo>
                  <a:pt x="8995060" y="0"/>
                </a:lnTo>
                <a:lnTo>
                  <a:pt x="8995060" y="6041174"/>
                </a:lnTo>
                <a:lnTo>
                  <a:pt x="0" y="60411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7BC10057-D85D-FDBA-2AC1-8F04FAABB6E2}"/>
              </a:ext>
            </a:extLst>
          </p:cNvPr>
          <p:cNvSpPr/>
          <p:nvPr/>
        </p:nvSpPr>
        <p:spPr>
          <a:xfrm>
            <a:off x="5115930" y="5681272"/>
            <a:ext cx="7179946" cy="4191000"/>
          </a:xfrm>
          <a:custGeom>
            <a:avLst/>
            <a:gdLst/>
            <a:ahLst/>
            <a:cxnLst/>
            <a:rect l="l" t="t" r="r" b="b"/>
            <a:pathLst>
              <a:path w="10289621" h="4919725">
                <a:moveTo>
                  <a:pt x="0" y="0"/>
                </a:moveTo>
                <a:lnTo>
                  <a:pt x="10289621" y="0"/>
                </a:lnTo>
                <a:lnTo>
                  <a:pt x="10289621" y="4919725"/>
                </a:lnTo>
                <a:lnTo>
                  <a:pt x="0" y="49197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0952" y="174155"/>
            <a:ext cx="2700338" cy="863270"/>
            <a:chOff x="0" y="0"/>
            <a:chExt cx="3600450" cy="1151026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5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25146" y="94174"/>
            <a:ext cx="1664208" cy="876986"/>
            <a:chOff x="0" y="0"/>
            <a:chExt cx="2218944" cy="11693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8944" cy="1169289"/>
            </a:xfrm>
            <a:custGeom>
              <a:avLst/>
              <a:gdLst/>
              <a:ahLst/>
              <a:cxnLst/>
              <a:rect l="l" t="t" r="r" b="b"/>
              <a:pathLst>
                <a:path w="2218944" h="1169289">
                  <a:moveTo>
                    <a:pt x="0" y="0"/>
                  </a:moveTo>
                  <a:lnTo>
                    <a:pt x="2218944" y="0"/>
                  </a:lnTo>
                  <a:lnTo>
                    <a:pt x="2218944" y="1169289"/>
                  </a:lnTo>
                  <a:lnTo>
                    <a:pt x="0" y="1169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050" y="0"/>
            <a:ext cx="13187362" cy="1042988"/>
            <a:chOff x="0" y="0"/>
            <a:chExt cx="17583150" cy="1390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83150" cy="1390650"/>
            </a:xfrm>
            <a:custGeom>
              <a:avLst/>
              <a:gdLst/>
              <a:ahLst/>
              <a:cxnLst/>
              <a:rect l="l" t="t" r="r" b="b"/>
              <a:pathLst>
                <a:path w="17583150" h="1390650">
                  <a:moveTo>
                    <a:pt x="0" y="0"/>
                  </a:moveTo>
                  <a:lnTo>
                    <a:pt x="17583150" y="0"/>
                  </a:lnTo>
                  <a:lnTo>
                    <a:pt x="1758315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21316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 rot="7879920">
            <a:off x="11556682" y="725853"/>
            <a:ext cx="2603716" cy="1266815"/>
            <a:chOff x="0" y="0"/>
            <a:chExt cx="3471621" cy="16890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1672" cy="1689100"/>
            </a:xfrm>
            <a:custGeom>
              <a:avLst/>
              <a:gdLst/>
              <a:ahLst/>
              <a:cxnLst/>
              <a:rect l="l" t="t" r="r" b="b"/>
              <a:pathLst>
                <a:path w="3471672" h="1689100">
                  <a:moveTo>
                    <a:pt x="0" y="1689100"/>
                  </a:moveTo>
                  <a:lnTo>
                    <a:pt x="1735836" y="0"/>
                  </a:lnTo>
                  <a:lnTo>
                    <a:pt x="3471672" y="168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91515" y="205740"/>
            <a:ext cx="11661457" cy="58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Creating A Future-ready Workforce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641289" y="-36614"/>
            <a:ext cx="1646711" cy="1074039"/>
            <a:chOff x="0" y="0"/>
            <a:chExt cx="2195614" cy="1432052"/>
          </a:xfrm>
        </p:grpSpPr>
        <p:sp>
          <p:nvSpPr>
            <p:cNvPr id="12" name="Freeform 12" descr="A yellow triangle with black background  AI-generated content may be incorrect."/>
            <p:cNvSpPr/>
            <p:nvPr/>
          </p:nvSpPr>
          <p:spPr>
            <a:xfrm>
              <a:off x="0" y="0"/>
              <a:ext cx="2195576" cy="1432052"/>
            </a:xfrm>
            <a:custGeom>
              <a:avLst/>
              <a:gdLst/>
              <a:ahLst/>
              <a:cxnLst/>
              <a:rect l="l" t="t" r="r" b="b"/>
              <a:pathLst>
                <a:path w="2195576" h="1432052">
                  <a:moveTo>
                    <a:pt x="0" y="0"/>
                  </a:moveTo>
                  <a:lnTo>
                    <a:pt x="2195576" y="0"/>
                  </a:lnTo>
                  <a:lnTo>
                    <a:pt x="2195576" y="1432052"/>
                  </a:lnTo>
                  <a:lnTo>
                    <a:pt x="0" y="1432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1914" b="-770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81247" y="1244918"/>
            <a:ext cx="8673255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103970" y="2125964"/>
            <a:ext cx="7125643" cy="5601614"/>
            <a:chOff x="0" y="0"/>
            <a:chExt cx="9500857" cy="7468819"/>
          </a:xfrm>
        </p:grpSpPr>
        <p:sp>
          <p:nvSpPr>
            <p:cNvPr id="15" name="Freeform 15" descr="A hand touching a magnifying glass over a clipboard  AI-generated content may be incorrect."/>
            <p:cNvSpPr/>
            <p:nvPr/>
          </p:nvSpPr>
          <p:spPr>
            <a:xfrm>
              <a:off x="0" y="0"/>
              <a:ext cx="9500870" cy="7468870"/>
            </a:xfrm>
            <a:custGeom>
              <a:avLst/>
              <a:gdLst/>
              <a:ahLst/>
              <a:cxnLst/>
              <a:rect l="l" t="t" r="r" b="b"/>
              <a:pathLst>
                <a:path w="9500870" h="7468870">
                  <a:moveTo>
                    <a:pt x="0" y="0"/>
                  </a:moveTo>
                  <a:lnTo>
                    <a:pt x="9500870" y="0"/>
                  </a:lnTo>
                  <a:lnTo>
                    <a:pt x="9500870" y="7468870"/>
                  </a:lnTo>
                  <a:lnTo>
                    <a:pt x="0" y="7468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3017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AutoShape 16"/>
          <p:cNvSpPr/>
          <p:nvPr/>
        </p:nvSpPr>
        <p:spPr>
          <a:xfrm rot="10920">
            <a:off x="10303097" y="7835170"/>
            <a:ext cx="782593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789649" y="1742386"/>
            <a:ext cx="10314321" cy="7042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/>
              <a:t>CyberSentinel</a:t>
            </a:r>
            <a:r>
              <a:rPr lang="en-US" sz="2800" dirty="0"/>
              <a:t> successfully demonstrates effective </a:t>
            </a:r>
            <a:r>
              <a:rPr lang="en-US" sz="2800" b="1" dirty="0"/>
              <a:t>anomaly detection</a:t>
            </a:r>
            <a:r>
              <a:rPr lang="en-US" sz="2800" dirty="0"/>
              <a:t> using the </a:t>
            </a:r>
            <a:r>
              <a:rPr lang="en-US" sz="2800" b="1" dirty="0"/>
              <a:t>Isolation Forest machine learning algorithm</a:t>
            </a:r>
            <a:r>
              <a:rPr lang="en-US" sz="2800" dirty="0"/>
              <a:t>, enabling the identification of unusual patterns in network activity. The system provides </a:t>
            </a:r>
            <a:r>
              <a:rPr lang="en-US" sz="2800" b="1" dirty="0"/>
              <a:t>intelligent threat response</a:t>
            </a:r>
            <a:r>
              <a:rPr lang="en-US" sz="2800" dirty="0"/>
              <a:t> through </a:t>
            </a:r>
            <a:r>
              <a:rPr lang="en-US" sz="2800" b="1" dirty="0"/>
              <a:t>Agentic AI decision-making</a:t>
            </a:r>
            <a:r>
              <a:rPr lang="en-US" sz="2800" dirty="0"/>
              <a:t>, ensuring timely and automated mitigation of potential security risks. It features a </a:t>
            </a:r>
            <a:r>
              <a:rPr lang="en-US" sz="2800" b="1" dirty="0"/>
              <a:t>user-friendly SOC dashboard</a:t>
            </a:r>
            <a:r>
              <a:rPr lang="en-US" sz="2800" dirty="0"/>
              <a:t> for continuous security monitoring and a </a:t>
            </a:r>
            <a:r>
              <a:rPr lang="en-US" sz="2800" b="1" dirty="0"/>
              <a:t>scalable architecture</a:t>
            </a:r>
            <a:r>
              <a:rPr lang="en-US" sz="2800" dirty="0"/>
              <a:t> capable of processing multiple network logs efficiently. Additionally, </a:t>
            </a:r>
            <a:r>
              <a:rPr lang="en-US" sz="2800" b="1" dirty="0"/>
              <a:t>explainable outputs</a:t>
            </a:r>
            <a:r>
              <a:rPr lang="en-US" sz="2800" dirty="0"/>
              <a:t> help analysts understand the reasoning behind detected threats, bridging the gap between </a:t>
            </a:r>
            <a:r>
              <a:rPr lang="en-US" sz="2800" b="1" dirty="0"/>
              <a:t>ML-based detection</a:t>
            </a:r>
            <a:r>
              <a:rPr lang="en-US" sz="2800" dirty="0"/>
              <a:t> and </a:t>
            </a:r>
            <a:r>
              <a:rPr lang="en-US" sz="2800" b="1" dirty="0"/>
              <a:t>actionable security responses</a:t>
            </a:r>
            <a:r>
              <a:rPr lang="en-US" sz="2800" dirty="0"/>
              <a:t>, making CyberSentinel a valuable tool for modern SOC operations.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4800" y="9714635"/>
            <a:ext cx="15786935" cy="32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  <a:hlinkClick r:id="rId6" tooltip="https://www.freepik.com/"/>
              </a:rPr>
              <a:t>https://www.freepik.com/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48938" y="9151620"/>
            <a:ext cx="100543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Source</a:t>
            </a:r>
          </a:p>
        </p:txBody>
      </p:sp>
      <p:sp>
        <p:nvSpPr>
          <p:cNvPr id="20" name="AutoShape 20"/>
          <p:cNvSpPr/>
          <p:nvPr/>
        </p:nvSpPr>
        <p:spPr>
          <a:xfrm rot="-6660">
            <a:off x="9752933" y="9340377"/>
            <a:ext cx="8556498" cy="0"/>
          </a:xfrm>
          <a:prstGeom prst="line">
            <a:avLst/>
          </a:prstGeom>
          <a:ln w="9525" cap="rnd">
            <a:solidFill>
              <a:srgbClr val="FFAB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1" name="AutoShape 21"/>
          <p:cNvSpPr/>
          <p:nvPr/>
        </p:nvSpPr>
        <p:spPr>
          <a:xfrm rot="5760">
            <a:off x="-35728" y="9339262"/>
            <a:ext cx="8501072" cy="0"/>
          </a:xfrm>
          <a:prstGeom prst="line">
            <a:avLst/>
          </a:prstGeom>
          <a:ln w="9525" cap="rnd">
            <a:solidFill>
              <a:srgbClr val="FFAB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0952" y="174155"/>
            <a:ext cx="2700338" cy="863270"/>
            <a:chOff x="0" y="0"/>
            <a:chExt cx="3600450" cy="1151026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5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25146" y="94174"/>
            <a:ext cx="1664208" cy="876986"/>
            <a:chOff x="0" y="0"/>
            <a:chExt cx="2218944" cy="11693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8944" cy="1169289"/>
            </a:xfrm>
            <a:custGeom>
              <a:avLst/>
              <a:gdLst/>
              <a:ahLst/>
              <a:cxnLst/>
              <a:rect l="l" t="t" r="r" b="b"/>
              <a:pathLst>
                <a:path w="2218944" h="1169289">
                  <a:moveTo>
                    <a:pt x="0" y="0"/>
                  </a:moveTo>
                  <a:lnTo>
                    <a:pt x="2218944" y="0"/>
                  </a:lnTo>
                  <a:lnTo>
                    <a:pt x="2218944" y="1169289"/>
                  </a:lnTo>
                  <a:lnTo>
                    <a:pt x="0" y="1169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050" y="0"/>
            <a:ext cx="13187362" cy="1042988"/>
            <a:chOff x="0" y="0"/>
            <a:chExt cx="17583150" cy="1390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83150" cy="1390650"/>
            </a:xfrm>
            <a:custGeom>
              <a:avLst/>
              <a:gdLst/>
              <a:ahLst/>
              <a:cxnLst/>
              <a:rect l="l" t="t" r="r" b="b"/>
              <a:pathLst>
                <a:path w="17583150" h="1390650">
                  <a:moveTo>
                    <a:pt x="0" y="0"/>
                  </a:moveTo>
                  <a:lnTo>
                    <a:pt x="17583150" y="0"/>
                  </a:lnTo>
                  <a:lnTo>
                    <a:pt x="1758315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21316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 rot="7879920">
            <a:off x="11556682" y="725853"/>
            <a:ext cx="2603716" cy="1266815"/>
            <a:chOff x="0" y="0"/>
            <a:chExt cx="3471621" cy="16890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1672" cy="1689100"/>
            </a:xfrm>
            <a:custGeom>
              <a:avLst/>
              <a:gdLst/>
              <a:ahLst/>
              <a:cxnLst/>
              <a:rect l="l" t="t" r="r" b="b"/>
              <a:pathLst>
                <a:path w="3471672" h="1689100">
                  <a:moveTo>
                    <a:pt x="0" y="1689100"/>
                  </a:moveTo>
                  <a:lnTo>
                    <a:pt x="1735836" y="0"/>
                  </a:lnTo>
                  <a:lnTo>
                    <a:pt x="3471672" y="168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91515" y="205740"/>
            <a:ext cx="11661457" cy="58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Creating A Future-ready Workforce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641289" y="-36614"/>
            <a:ext cx="1646711" cy="1074039"/>
            <a:chOff x="0" y="0"/>
            <a:chExt cx="2195614" cy="1432052"/>
          </a:xfrm>
        </p:grpSpPr>
        <p:sp>
          <p:nvSpPr>
            <p:cNvPr id="12" name="Freeform 12" descr="A yellow triangle with black background  AI-generated content may be incorrect."/>
            <p:cNvSpPr/>
            <p:nvPr/>
          </p:nvSpPr>
          <p:spPr>
            <a:xfrm>
              <a:off x="0" y="0"/>
              <a:ext cx="2195576" cy="1432052"/>
            </a:xfrm>
            <a:custGeom>
              <a:avLst/>
              <a:gdLst/>
              <a:ahLst/>
              <a:cxnLst/>
              <a:rect l="l" t="t" r="r" b="b"/>
              <a:pathLst>
                <a:path w="2195576" h="1432052">
                  <a:moveTo>
                    <a:pt x="0" y="0"/>
                  </a:moveTo>
                  <a:lnTo>
                    <a:pt x="2195576" y="0"/>
                  </a:lnTo>
                  <a:lnTo>
                    <a:pt x="2195576" y="1432052"/>
                  </a:lnTo>
                  <a:lnTo>
                    <a:pt x="0" y="1432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1914" b="-770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77228" y="1248251"/>
            <a:ext cx="8834914" cy="487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Future Perspective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4350" y="1859280"/>
            <a:ext cx="17259300" cy="6617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43"/>
              </a:lnSpc>
            </a:pPr>
            <a:r>
              <a:rPr lang="en-US" sz="264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Real-time Packet Capture Integration</a:t>
            </a:r>
          </a:p>
          <a:p>
            <a:pPr algn="just">
              <a:lnSpc>
                <a:spcPts val="4043"/>
              </a:lnSpc>
            </a:pPr>
            <a:r>
              <a:rPr lang="en-US" sz="264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	</a:t>
            </a:r>
            <a:r>
              <a:rPr lang="en-US" sz="264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with live network traffic (</a:t>
            </a:r>
            <a:r>
              <a:rPr lang="en-US" sz="2642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pcap</a:t>
            </a:r>
            <a:r>
              <a:rPr lang="en-US" sz="264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files) and packet sniffing tools like Wireshark to analyze real-time data    	streams instead of static CSV files.</a:t>
            </a:r>
          </a:p>
          <a:p>
            <a:pPr algn="just">
              <a:lnSpc>
                <a:spcPts val="4043"/>
              </a:lnSpc>
            </a:pPr>
            <a:r>
              <a:rPr lang="en-US" sz="264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Automated Threat Mitigation</a:t>
            </a:r>
          </a:p>
          <a:p>
            <a:pPr algn="just">
              <a:lnSpc>
                <a:spcPts val="4043"/>
              </a:lnSpc>
            </a:pPr>
            <a:r>
              <a:rPr lang="en-US" sz="264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	</a:t>
            </a:r>
            <a:r>
              <a:rPr lang="en-US" sz="264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 with firewalls, routers, and IDS/IPS systems to automatically block malicious IPs and isolate 	compromised systems without manual intervention.</a:t>
            </a:r>
          </a:p>
          <a:p>
            <a:pPr algn="just">
              <a:lnSpc>
                <a:spcPts val="4043"/>
              </a:lnSpc>
            </a:pPr>
            <a:r>
              <a:rPr lang="en-US" sz="264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3. Deep Learning Models</a:t>
            </a:r>
          </a:p>
          <a:p>
            <a:pPr algn="just">
              <a:lnSpc>
                <a:spcPts val="4043"/>
              </a:lnSpc>
            </a:pPr>
            <a:r>
              <a:rPr lang="en-US" sz="264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	</a:t>
            </a:r>
            <a:r>
              <a:rPr lang="en-US" sz="264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advanced neural networks like LSTM for time-series analysis and CNN for pattern recognition to         	detect sophisticated zero-day attacks.</a:t>
            </a:r>
          </a:p>
          <a:p>
            <a:pPr algn="just">
              <a:lnSpc>
                <a:spcPts val="4043"/>
              </a:lnSpc>
            </a:pPr>
            <a:r>
              <a:rPr lang="en-US" sz="264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4. Mobile SOC Application</a:t>
            </a:r>
          </a:p>
          <a:p>
            <a:pPr algn="just">
              <a:lnSpc>
                <a:spcPts val="4043"/>
              </a:lnSpc>
            </a:pPr>
            <a:r>
              <a:rPr lang="en-US" sz="264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	</a:t>
            </a:r>
            <a:r>
              <a:rPr lang="en-US" sz="264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a mobile app for iOS and Android allowing security teams to monitor threats, receive push 	notifications, and respond to incidents from anywhere.</a:t>
            </a:r>
          </a:p>
          <a:p>
            <a:pPr algn="just">
              <a:lnSpc>
                <a:spcPts val="4043"/>
              </a:lnSpc>
            </a:pPr>
            <a:endParaRPr lang="en-US" sz="264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0952" y="174155"/>
            <a:ext cx="2700338" cy="863270"/>
            <a:chOff x="0" y="0"/>
            <a:chExt cx="3600450" cy="1151026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5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25146" y="94174"/>
            <a:ext cx="1664208" cy="876986"/>
            <a:chOff x="0" y="0"/>
            <a:chExt cx="2218944" cy="11693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8944" cy="1169289"/>
            </a:xfrm>
            <a:custGeom>
              <a:avLst/>
              <a:gdLst/>
              <a:ahLst/>
              <a:cxnLst/>
              <a:rect l="l" t="t" r="r" b="b"/>
              <a:pathLst>
                <a:path w="2218944" h="1169289">
                  <a:moveTo>
                    <a:pt x="0" y="0"/>
                  </a:moveTo>
                  <a:lnTo>
                    <a:pt x="2218944" y="0"/>
                  </a:lnTo>
                  <a:lnTo>
                    <a:pt x="2218944" y="1169289"/>
                  </a:lnTo>
                  <a:lnTo>
                    <a:pt x="0" y="11692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050" y="0"/>
            <a:ext cx="13187362" cy="1042988"/>
            <a:chOff x="0" y="0"/>
            <a:chExt cx="17583150" cy="1390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83150" cy="1390650"/>
            </a:xfrm>
            <a:custGeom>
              <a:avLst/>
              <a:gdLst/>
              <a:ahLst/>
              <a:cxnLst/>
              <a:rect l="l" t="t" r="r" b="b"/>
              <a:pathLst>
                <a:path w="17583150" h="1390650">
                  <a:moveTo>
                    <a:pt x="0" y="0"/>
                  </a:moveTo>
                  <a:lnTo>
                    <a:pt x="17583150" y="0"/>
                  </a:lnTo>
                  <a:lnTo>
                    <a:pt x="1758315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21316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 rot="7879920">
            <a:off x="11556682" y="725853"/>
            <a:ext cx="2603716" cy="1266815"/>
            <a:chOff x="0" y="0"/>
            <a:chExt cx="3471621" cy="16890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1672" cy="1689100"/>
            </a:xfrm>
            <a:custGeom>
              <a:avLst/>
              <a:gdLst/>
              <a:ahLst/>
              <a:cxnLst/>
              <a:rect l="l" t="t" r="r" b="b"/>
              <a:pathLst>
                <a:path w="3471672" h="1689100">
                  <a:moveTo>
                    <a:pt x="0" y="1689100"/>
                  </a:moveTo>
                  <a:lnTo>
                    <a:pt x="1735836" y="0"/>
                  </a:lnTo>
                  <a:lnTo>
                    <a:pt x="3471672" y="168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91515" y="205740"/>
            <a:ext cx="11661457" cy="58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Creating A Future-ready Workforce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641289" y="-36614"/>
            <a:ext cx="1646711" cy="1074039"/>
            <a:chOff x="0" y="0"/>
            <a:chExt cx="2195614" cy="1432052"/>
          </a:xfrm>
        </p:grpSpPr>
        <p:sp>
          <p:nvSpPr>
            <p:cNvPr id="12" name="Freeform 12" descr="A yellow triangle with black background  AI-generated content may be incorrect."/>
            <p:cNvSpPr/>
            <p:nvPr/>
          </p:nvSpPr>
          <p:spPr>
            <a:xfrm>
              <a:off x="0" y="0"/>
              <a:ext cx="2195576" cy="1432052"/>
            </a:xfrm>
            <a:custGeom>
              <a:avLst/>
              <a:gdLst/>
              <a:ahLst/>
              <a:cxnLst/>
              <a:rect l="l" t="t" r="r" b="b"/>
              <a:pathLst>
                <a:path w="2195576" h="1432052">
                  <a:moveTo>
                    <a:pt x="0" y="0"/>
                  </a:moveTo>
                  <a:lnTo>
                    <a:pt x="2195576" y="0"/>
                  </a:lnTo>
                  <a:lnTo>
                    <a:pt x="2195576" y="1432052"/>
                  </a:lnTo>
                  <a:lnTo>
                    <a:pt x="0" y="1432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1914" b="-770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564230" y="4522746"/>
            <a:ext cx="5159531" cy="1345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1327</Words>
  <Application>Microsoft Office PowerPoint</Application>
  <PresentationFormat>Custom</PresentationFormat>
  <Paragraphs>219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 Italics</vt:lpstr>
      <vt:lpstr>Calibri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IM_Project sample Template CU4.pptx</dc:title>
  <cp:lastModifiedBy>prasanna laxmi alampally</cp:lastModifiedBy>
  <cp:revision>1</cp:revision>
  <dcterms:created xsi:type="dcterms:W3CDTF">2006-08-16T00:00:00Z</dcterms:created>
  <dcterms:modified xsi:type="dcterms:W3CDTF">2026-04-02T09:16:25Z</dcterms:modified>
  <dc:identifier>DAHFnaUU7DU</dc:identifier>
</cp:coreProperties>
</file>